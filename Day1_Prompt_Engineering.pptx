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Lst>
  <p:notesMasterIdLst>
    <p:notesMasterId r:id="rId3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notesMaster" Target="notesMasters/notesMaster1.xml"/><Relationship Id="rId33" Type="http://schemas.openxmlformats.org/officeDocument/2006/relationships/presProps" Target="presProps.xml"/><Relationship Id="rId34" Type="http://schemas.openxmlformats.org/officeDocument/2006/relationships/viewProps" Target="viewProps.xml"/><Relationship Id="rId35" Type="http://schemas.openxmlformats.org/officeDocument/2006/relationships/theme" Target="theme/theme1.xml"/><Relationship Id="rId3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12188952" cy="6858000"/>
          </a:xfrm>
          <a:prstGeom prst="rect">
            <a:avLst/>
          </a:prstGeom>
          <a:solidFill>
            <a:srgbClr val="1E2761"/>
          </a:solidFill>
          <a:ln/>
        </p:spPr>
      </p:sp>
      <p:sp>
        <p:nvSpPr>
          <p:cNvPr id="3" name="Text 1"/>
          <p:cNvSpPr/>
          <p:nvPr/>
        </p:nvSpPr>
        <p:spPr>
          <a:xfrm>
            <a:off x="731520" y="2286000"/>
            <a:ext cx="10698480" cy="548640"/>
          </a:xfrm>
          <a:prstGeom prst="rect">
            <a:avLst/>
          </a:prstGeom>
          <a:noFill/>
          <a:ln/>
        </p:spPr>
        <p:txBody>
          <a:bodyPr wrap="square" rtlCol="0" anchor="ctr"/>
          <a:lstStyle/>
          <a:p>
            <a:pPr indent="0" marL="0">
              <a:buNone/>
            </a:pPr>
            <a:r>
              <a:rPr lang="en-US" sz="1600" b="1" spc="300" kern="0" dirty="0">
                <a:solidFill>
                  <a:srgbClr val="F9A826"/>
                </a:solidFill>
                <a:latin typeface="Calibri" pitchFamily="34" charset="0"/>
                <a:ea typeface="Calibri" pitchFamily="34" charset="-122"/>
                <a:cs typeface="Calibri" pitchFamily="34" charset="-120"/>
              </a:rPr>
              <a:t>PROMPT ENGINEERING</a:t>
            </a:r>
            <a:endParaRPr lang="en-US" sz="1600" dirty="0"/>
          </a:p>
        </p:txBody>
      </p:sp>
      <p:sp>
        <p:nvSpPr>
          <p:cNvPr id="4" name="Text 2"/>
          <p:cNvSpPr/>
          <p:nvPr/>
        </p:nvSpPr>
        <p:spPr>
          <a:xfrm>
            <a:off x="731520" y="2743200"/>
            <a:ext cx="10698480" cy="1737360"/>
          </a:xfrm>
          <a:prstGeom prst="rect">
            <a:avLst/>
          </a:prstGeom>
          <a:noFill/>
          <a:ln/>
        </p:spPr>
        <p:txBody>
          <a:bodyPr wrap="square"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Day 1: Prompt Structure &amp;</a:t>
            </a:r>
            <a:endParaRPr lang="en-US" sz="4400" dirty="0"/>
          </a:p>
          <a:p>
            <a:pPr indent="0" marL="0">
              <a:buNone/>
            </a:pPr>
            <a:r>
              <a:rPr lang="en-US" sz="4400" b="1" dirty="0">
                <a:solidFill>
                  <a:srgbClr val="FFFFFF"/>
                </a:solidFill>
                <a:latin typeface="Cambria" pitchFamily="34" charset="0"/>
                <a:ea typeface="Cambria" pitchFamily="34" charset="-122"/>
                <a:cs typeface="Cambria" pitchFamily="34" charset="-120"/>
              </a:rPr>
              <a:t>The 5 Core Elements</a:t>
            </a:r>
            <a:endParaRPr lang="en-US" sz="4400" dirty="0"/>
          </a:p>
        </p:txBody>
      </p:sp>
      <p:sp>
        <p:nvSpPr>
          <p:cNvPr id="5" name="Text 3"/>
          <p:cNvSpPr/>
          <p:nvPr/>
        </p:nvSpPr>
        <p:spPr>
          <a:xfrm>
            <a:off x="731520" y="4434840"/>
            <a:ext cx="9601200" cy="45720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From knowing the basics to building prompts that consistently work</a:t>
            </a:r>
            <a:endParaRPr lang="en-US" sz="1600" dirty="0"/>
          </a:p>
        </p:txBody>
      </p:sp>
      <p:sp>
        <p:nvSpPr>
          <p:cNvPr id="6" name="Text 4"/>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7" name="Text 5"/>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SESSION OVERVIEW</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What We're Covering Today</a:t>
            </a:r>
            <a:endParaRPr lang="en-US" sz="3200" dirty="0"/>
          </a:p>
        </p:txBody>
      </p:sp>
      <p:sp>
        <p:nvSpPr>
          <p:cNvPr id="4" name="Shape 2"/>
          <p:cNvSpPr/>
          <p:nvPr/>
        </p:nvSpPr>
        <p:spPr>
          <a:xfrm>
            <a:off x="640080" y="1554480"/>
            <a:ext cx="502920" cy="502920"/>
          </a:xfrm>
          <a:prstGeom prst="ellipse">
            <a:avLst/>
          </a:prstGeom>
          <a:solidFill>
            <a:srgbClr val="1E2761"/>
          </a:solidFill>
          <a:ln/>
        </p:spPr>
      </p:sp>
      <p:sp>
        <p:nvSpPr>
          <p:cNvPr id="5" name="Text 3"/>
          <p:cNvSpPr/>
          <p:nvPr/>
        </p:nvSpPr>
        <p:spPr>
          <a:xfrm>
            <a:off x="640080" y="155448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1</a:t>
            </a:r>
            <a:endParaRPr lang="en-US" sz="2000" dirty="0"/>
          </a:p>
        </p:txBody>
      </p:sp>
      <p:sp>
        <p:nvSpPr>
          <p:cNvPr id="6" name="Text 4"/>
          <p:cNvSpPr/>
          <p:nvPr/>
        </p:nvSpPr>
        <p:spPr>
          <a:xfrm>
            <a:off x="1371600" y="1508760"/>
            <a:ext cx="365760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Quick Recap</a:t>
            </a:r>
            <a:endParaRPr lang="en-US" sz="1800" dirty="0"/>
          </a:p>
        </p:txBody>
      </p:sp>
      <p:sp>
        <p:nvSpPr>
          <p:cNvPr id="7" name="Text 5"/>
          <p:cNvSpPr/>
          <p:nvPr/>
        </p:nvSpPr>
        <p:spPr>
          <a:xfrm>
            <a:off x="1371600" y="1847088"/>
            <a:ext cx="9601200" cy="36576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Weak vs. strong prompts — a fast refresher</a:t>
            </a:r>
            <a:endParaRPr lang="en-US" sz="1300" dirty="0"/>
          </a:p>
        </p:txBody>
      </p:sp>
      <p:sp>
        <p:nvSpPr>
          <p:cNvPr id="8" name="Shape 6"/>
          <p:cNvSpPr/>
          <p:nvPr/>
        </p:nvSpPr>
        <p:spPr>
          <a:xfrm>
            <a:off x="640080" y="2468880"/>
            <a:ext cx="502920" cy="502920"/>
          </a:xfrm>
          <a:prstGeom prst="ellipse">
            <a:avLst/>
          </a:prstGeom>
          <a:solidFill>
            <a:srgbClr val="1E2761"/>
          </a:solidFill>
          <a:ln/>
        </p:spPr>
      </p:sp>
      <p:sp>
        <p:nvSpPr>
          <p:cNvPr id="9" name="Text 7"/>
          <p:cNvSpPr/>
          <p:nvPr/>
        </p:nvSpPr>
        <p:spPr>
          <a:xfrm>
            <a:off x="640080" y="246888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2</a:t>
            </a:r>
            <a:endParaRPr lang="en-US" sz="2000" dirty="0"/>
          </a:p>
        </p:txBody>
      </p:sp>
      <p:sp>
        <p:nvSpPr>
          <p:cNvPr id="10" name="Text 8"/>
          <p:cNvSpPr/>
          <p:nvPr/>
        </p:nvSpPr>
        <p:spPr>
          <a:xfrm>
            <a:off x="1371600" y="2423160"/>
            <a:ext cx="365760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The 5 Core Elements</a:t>
            </a:r>
            <a:endParaRPr lang="en-US" sz="1800" dirty="0"/>
          </a:p>
        </p:txBody>
      </p:sp>
      <p:sp>
        <p:nvSpPr>
          <p:cNvPr id="11" name="Text 9"/>
          <p:cNvSpPr/>
          <p:nvPr/>
        </p:nvSpPr>
        <p:spPr>
          <a:xfrm>
            <a:off x="1371600" y="2761488"/>
            <a:ext cx="9601200" cy="36576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The building blocks of every strong prompt</a:t>
            </a:r>
            <a:endParaRPr lang="en-US" sz="1300" dirty="0"/>
          </a:p>
        </p:txBody>
      </p:sp>
      <p:sp>
        <p:nvSpPr>
          <p:cNvPr id="12" name="Shape 10"/>
          <p:cNvSpPr/>
          <p:nvPr/>
        </p:nvSpPr>
        <p:spPr>
          <a:xfrm>
            <a:off x="640080" y="3383280"/>
            <a:ext cx="502920" cy="502920"/>
          </a:xfrm>
          <a:prstGeom prst="ellipse">
            <a:avLst/>
          </a:prstGeom>
          <a:solidFill>
            <a:srgbClr val="1E2761"/>
          </a:solidFill>
          <a:ln/>
        </p:spPr>
      </p:sp>
      <p:sp>
        <p:nvSpPr>
          <p:cNvPr id="13" name="Text 11"/>
          <p:cNvSpPr/>
          <p:nvPr/>
        </p:nvSpPr>
        <p:spPr>
          <a:xfrm>
            <a:off x="640080" y="338328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3</a:t>
            </a:r>
            <a:endParaRPr lang="en-US" sz="2000" dirty="0"/>
          </a:p>
        </p:txBody>
      </p:sp>
      <p:sp>
        <p:nvSpPr>
          <p:cNvPr id="14" name="Text 12"/>
          <p:cNvSpPr/>
          <p:nvPr/>
        </p:nvSpPr>
        <p:spPr>
          <a:xfrm>
            <a:off x="1371600" y="3337560"/>
            <a:ext cx="365760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Worked Examples</a:t>
            </a:r>
            <a:endParaRPr lang="en-US" sz="1800" dirty="0"/>
          </a:p>
        </p:txBody>
      </p:sp>
      <p:sp>
        <p:nvSpPr>
          <p:cNvPr id="15" name="Text 13"/>
          <p:cNvSpPr/>
          <p:nvPr/>
        </p:nvSpPr>
        <p:spPr>
          <a:xfrm>
            <a:off x="1371600" y="3675888"/>
            <a:ext cx="9601200" cy="36576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Real prompts, rebuilt live, across different use cases</a:t>
            </a:r>
            <a:endParaRPr lang="en-US" sz="1300" dirty="0"/>
          </a:p>
        </p:txBody>
      </p:sp>
      <p:sp>
        <p:nvSpPr>
          <p:cNvPr id="16" name="Shape 14"/>
          <p:cNvSpPr/>
          <p:nvPr/>
        </p:nvSpPr>
        <p:spPr>
          <a:xfrm>
            <a:off x="640080" y="4297680"/>
            <a:ext cx="502920" cy="502920"/>
          </a:xfrm>
          <a:prstGeom prst="ellipse">
            <a:avLst/>
          </a:prstGeom>
          <a:solidFill>
            <a:srgbClr val="1E2761"/>
          </a:solidFill>
          <a:ln/>
        </p:spPr>
      </p:sp>
      <p:sp>
        <p:nvSpPr>
          <p:cNvPr id="17" name="Text 15"/>
          <p:cNvSpPr/>
          <p:nvPr/>
        </p:nvSpPr>
        <p:spPr>
          <a:xfrm>
            <a:off x="640080" y="429768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4</a:t>
            </a:r>
            <a:endParaRPr lang="en-US" sz="2000" dirty="0"/>
          </a:p>
        </p:txBody>
      </p:sp>
      <p:sp>
        <p:nvSpPr>
          <p:cNvPr id="18" name="Text 16"/>
          <p:cNvSpPr/>
          <p:nvPr/>
        </p:nvSpPr>
        <p:spPr>
          <a:xfrm>
            <a:off x="1371600" y="4251960"/>
            <a:ext cx="365760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Common Mistakes</a:t>
            </a:r>
            <a:endParaRPr lang="en-US" sz="1800" dirty="0"/>
          </a:p>
        </p:txBody>
      </p:sp>
      <p:sp>
        <p:nvSpPr>
          <p:cNvPr id="19" name="Text 17"/>
          <p:cNvSpPr/>
          <p:nvPr/>
        </p:nvSpPr>
        <p:spPr>
          <a:xfrm>
            <a:off x="1371600" y="4590288"/>
            <a:ext cx="9601200" cy="36576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What still goes wrong even after learning the theory</a:t>
            </a:r>
            <a:endParaRPr lang="en-US" sz="1300" dirty="0"/>
          </a:p>
        </p:txBody>
      </p:sp>
      <p:sp>
        <p:nvSpPr>
          <p:cNvPr id="20" name="Shape 18"/>
          <p:cNvSpPr/>
          <p:nvPr/>
        </p:nvSpPr>
        <p:spPr>
          <a:xfrm>
            <a:off x="640080" y="5212080"/>
            <a:ext cx="502920" cy="502920"/>
          </a:xfrm>
          <a:prstGeom prst="ellipse">
            <a:avLst/>
          </a:prstGeom>
          <a:solidFill>
            <a:srgbClr val="1E2761"/>
          </a:solidFill>
          <a:ln/>
        </p:spPr>
      </p:sp>
      <p:sp>
        <p:nvSpPr>
          <p:cNvPr id="21" name="Text 19"/>
          <p:cNvSpPr/>
          <p:nvPr/>
        </p:nvSpPr>
        <p:spPr>
          <a:xfrm>
            <a:off x="640080" y="5212080"/>
            <a:ext cx="502920" cy="502920"/>
          </a:xfrm>
          <a:prstGeom prst="rect">
            <a:avLst/>
          </a:prstGeom>
          <a:noFill/>
          <a:ln/>
        </p:spPr>
        <p:txBody>
          <a:bodyPr wrap="square" rtlCol="0" anchor="ctr"/>
          <a:lstStyle/>
          <a:p>
            <a:pPr algn="ctr" indent="0" marL="0">
              <a:buNone/>
            </a:pPr>
            <a:r>
              <a:rPr lang="en-US" sz="2000" b="1" dirty="0">
                <a:solidFill>
                  <a:srgbClr val="FFFFFF"/>
                </a:solidFill>
                <a:latin typeface="Cambria" pitchFamily="34" charset="0"/>
                <a:ea typeface="Cambria" pitchFamily="34" charset="-122"/>
                <a:cs typeface="Cambria" pitchFamily="34" charset="-120"/>
              </a:rPr>
              <a:t>5</a:t>
            </a:r>
            <a:endParaRPr lang="en-US" sz="2000" dirty="0"/>
          </a:p>
        </p:txBody>
      </p:sp>
      <p:sp>
        <p:nvSpPr>
          <p:cNvPr id="22" name="Text 20"/>
          <p:cNvSpPr/>
          <p:nvPr/>
        </p:nvSpPr>
        <p:spPr>
          <a:xfrm>
            <a:off x="1371600" y="5166360"/>
            <a:ext cx="3657600" cy="365760"/>
          </a:xfrm>
          <a:prstGeom prst="rect">
            <a:avLst/>
          </a:prstGeom>
          <a:noFill/>
          <a:ln/>
        </p:spPr>
        <p:txBody>
          <a:bodyPr wrap="square" rtlCol="0" anchor="ctr"/>
          <a:lstStyle/>
          <a:p>
            <a:pPr indent="0" marL="0">
              <a:buNone/>
            </a:pPr>
            <a:r>
              <a:rPr lang="en-US" sz="1800" b="1" dirty="0">
                <a:solidFill>
                  <a:srgbClr val="1E2761"/>
                </a:solidFill>
                <a:latin typeface="Cambria" pitchFamily="34" charset="0"/>
                <a:ea typeface="Cambria" pitchFamily="34" charset="-122"/>
                <a:cs typeface="Cambria" pitchFamily="34" charset="-120"/>
              </a:rPr>
              <a:t>Practice + Task</a:t>
            </a:r>
            <a:endParaRPr lang="en-US" sz="1800" dirty="0"/>
          </a:p>
        </p:txBody>
      </p:sp>
      <p:sp>
        <p:nvSpPr>
          <p:cNvPr id="23" name="Text 21"/>
          <p:cNvSpPr/>
          <p:nvPr/>
        </p:nvSpPr>
        <p:spPr>
          <a:xfrm>
            <a:off x="1371600" y="5504688"/>
            <a:ext cx="9601200" cy="36576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You build your own prompts, with feedback</a:t>
            </a:r>
            <a:endParaRPr lang="en-US" sz="1300" dirty="0"/>
          </a:p>
        </p:txBody>
      </p:sp>
      <p:sp>
        <p:nvSpPr>
          <p:cNvPr id="24" name="Text 2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25" name="Text 23"/>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QUICK RECAP</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What Prompt Engineering Actually Does</a:t>
            </a:r>
            <a:endParaRPr lang="en-US" sz="3200" dirty="0"/>
          </a:p>
        </p:txBody>
      </p:sp>
      <p:sp>
        <p:nvSpPr>
          <p:cNvPr id="4" name="Text 2"/>
          <p:cNvSpPr/>
          <p:nvPr/>
        </p:nvSpPr>
        <p:spPr>
          <a:xfrm>
            <a:off x="548640" y="1371600"/>
            <a:ext cx="10515600" cy="365760"/>
          </a:xfrm>
          <a:prstGeom prst="rect">
            <a:avLst/>
          </a:prstGeom>
          <a:noFill/>
          <a:ln/>
        </p:spPr>
        <p:txBody>
          <a:bodyPr wrap="square" rtlCol="0" anchor="ctr"/>
          <a:lstStyle/>
          <a:p>
            <a:pPr indent="0" marL="0">
              <a:buNone/>
            </a:pPr>
            <a:r>
              <a:rPr lang="en-US" sz="1400" dirty="0">
                <a:solidFill>
                  <a:srgbClr val="6B7280"/>
                </a:solidFill>
                <a:latin typeface="Calibri" pitchFamily="34" charset="0"/>
                <a:ea typeface="Calibri" pitchFamily="34" charset="-122"/>
                <a:cs typeface="Calibri" pitchFamily="34" charset="-120"/>
              </a:rPr>
              <a:t>You already saw this in the demo class — here's the one-line version:</a:t>
            </a:r>
            <a:endParaRPr lang="en-US" sz="1400" dirty="0"/>
          </a:p>
        </p:txBody>
      </p:sp>
      <p:sp>
        <p:nvSpPr>
          <p:cNvPr id="5" name="Shape 3"/>
          <p:cNvSpPr/>
          <p:nvPr/>
        </p:nvSpPr>
        <p:spPr>
          <a:xfrm>
            <a:off x="548640" y="1920240"/>
            <a:ext cx="11064240" cy="1463040"/>
          </a:xfrm>
          <a:prstGeom prst="rect">
            <a:avLst/>
          </a:prstGeom>
          <a:solidFill>
            <a:srgbClr val="FFFFFF"/>
          </a:solidFill>
          <a:ln w="12700">
            <a:solidFill>
              <a:srgbClr val="E2E5F1"/>
            </a:solidFill>
            <a:prstDash val="solid"/>
          </a:ln>
          <a:effectLst>
            <a:outerShdw sx="100000" sy="100000" kx="0" ky="0" algn="bl" rotWithShape="0" blurRad="101600" dist="38100" dir="5400000">
              <a:srgbClr val="8C8C9C">
                <a:alpha val="20000"/>
              </a:srgbClr>
            </a:outerShdw>
          </a:effectLst>
        </p:spPr>
      </p:sp>
      <p:sp>
        <p:nvSpPr>
          <p:cNvPr id="6" name="Text 4"/>
          <p:cNvSpPr/>
          <p:nvPr/>
        </p:nvSpPr>
        <p:spPr>
          <a:xfrm>
            <a:off x="914400" y="2148840"/>
            <a:ext cx="10332720" cy="1005840"/>
          </a:xfrm>
          <a:prstGeom prst="rect">
            <a:avLst/>
          </a:prstGeom>
          <a:noFill/>
          <a:ln/>
        </p:spPr>
        <p:txBody>
          <a:bodyPr wrap="square" rtlCol="0" anchor="ctr"/>
          <a:lstStyle/>
          <a:p>
            <a:pPr indent="0" marL="0">
              <a:buNone/>
            </a:pPr>
            <a:r>
              <a:rPr lang="en-US" sz="2000" i="1" dirty="0">
                <a:solidFill>
                  <a:srgbClr val="1E2761"/>
                </a:solidFill>
                <a:latin typeface="Cambria" pitchFamily="34" charset="0"/>
                <a:ea typeface="Cambria" pitchFamily="34" charset="-122"/>
                <a:cs typeface="Cambria" pitchFamily="34" charset="-120"/>
              </a:rPr>
              <a:t>Prompt engineering is giving the AI clear, structured instructions so its output matches exactly what you need — instead of guessing what you meant.</a:t>
            </a:r>
            <a:endParaRPr lang="en-US" sz="2000" dirty="0"/>
          </a:p>
        </p:txBody>
      </p:sp>
      <p:sp>
        <p:nvSpPr>
          <p:cNvPr id="7" name="Text 5"/>
          <p:cNvSpPr/>
          <p:nvPr/>
        </p:nvSpPr>
        <p:spPr>
          <a:xfrm>
            <a:off x="548640" y="3749040"/>
            <a:ext cx="10515600" cy="457200"/>
          </a:xfrm>
          <a:prstGeom prst="rect">
            <a:avLst/>
          </a:prstGeom>
          <a:noFill/>
          <a:ln/>
        </p:spPr>
        <p:txBody>
          <a:bodyPr wrap="square" rtlCol="0" anchor="ctr"/>
          <a:lstStyle/>
          <a:p>
            <a:pPr indent="0" marL="0">
              <a:buNone/>
            </a:pPr>
            <a:r>
              <a:rPr lang="en-US" sz="1400" b="1" dirty="0">
                <a:solidFill>
                  <a:srgbClr val="3A3A3A"/>
                </a:solidFill>
                <a:latin typeface="Calibri" pitchFamily="34" charset="0"/>
                <a:ea typeface="Calibri" pitchFamily="34" charset="-122"/>
                <a:cs typeface="Calibri" pitchFamily="34" charset="-120"/>
              </a:rPr>
              <a:t>Same AI. Same question. Completely different result — depending on how the prompt is written.</a:t>
            </a:r>
            <a:endParaRPr lang="en-US" sz="140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9"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QUICK RECAP</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Weak vs. Strong — One More Look</a:t>
            </a:r>
            <a:endParaRPr lang="en-US" sz="3200" dirty="0"/>
          </a:p>
        </p:txBody>
      </p:sp>
      <p:sp>
        <p:nvSpPr>
          <p:cNvPr id="4" name="Shape 2"/>
          <p:cNvSpPr/>
          <p:nvPr/>
        </p:nvSpPr>
        <p:spPr>
          <a:xfrm>
            <a:off x="548640" y="1554480"/>
            <a:ext cx="5212080" cy="2926080"/>
          </a:xfrm>
          <a:prstGeom prst="rect">
            <a:avLst/>
          </a:prstGeom>
          <a:solidFill>
            <a:srgbClr val="FDEDEC"/>
          </a:solidFill>
          <a:ln w="12700">
            <a:solidFill>
              <a:srgbClr val="F1B0AC"/>
            </a:solidFill>
            <a:prstDash val="solid"/>
          </a:ln>
        </p:spPr>
      </p:sp>
      <p:sp>
        <p:nvSpPr>
          <p:cNvPr id="5" name="Text 3"/>
          <p:cNvSpPr/>
          <p:nvPr/>
        </p:nvSpPr>
        <p:spPr>
          <a:xfrm>
            <a:off x="822960" y="1737360"/>
            <a:ext cx="4663440" cy="36576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WEAK PROMPT</a:t>
            </a:r>
            <a:endParaRPr lang="en-US" sz="1300" dirty="0"/>
          </a:p>
        </p:txBody>
      </p:sp>
      <p:sp>
        <p:nvSpPr>
          <p:cNvPr id="6" name="Text 4"/>
          <p:cNvSpPr/>
          <p:nvPr/>
        </p:nvSpPr>
        <p:spPr>
          <a:xfrm>
            <a:off x="822960" y="2148840"/>
            <a:ext cx="4663440" cy="731520"/>
          </a:xfrm>
          <a:prstGeom prst="rect">
            <a:avLst/>
          </a:prstGeom>
          <a:noFill/>
          <a:ln/>
        </p:spPr>
        <p:txBody>
          <a:bodyPr wrap="square" rtlCol="0" anchor="ctr"/>
          <a:lstStyle/>
          <a:p>
            <a:pPr indent="0" marL="0">
              <a:buNone/>
            </a:pPr>
            <a:r>
              <a:rPr lang="en-US" sz="1600" i="1" dirty="0">
                <a:solidFill>
                  <a:srgbClr val="1E2761"/>
                </a:solidFill>
                <a:latin typeface="Cambria" pitchFamily="34" charset="0"/>
                <a:ea typeface="Cambria" pitchFamily="34" charset="-122"/>
                <a:cs typeface="Cambria" pitchFamily="34" charset="-120"/>
              </a:rPr>
              <a:t>“Write me an email to a client.”</a:t>
            </a:r>
            <a:endParaRPr lang="en-US" sz="1600" dirty="0"/>
          </a:p>
        </p:txBody>
      </p:sp>
      <p:sp>
        <p:nvSpPr>
          <p:cNvPr id="7" name="Text 5"/>
          <p:cNvSpPr/>
          <p:nvPr/>
        </p:nvSpPr>
        <p:spPr>
          <a:xfrm>
            <a:off x="822960" y="2971800"/>
            <a:ext cx="4663440" cy="128016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Result: generic, could apply to any client, any situation. You'll spend more time editing than the prompt saved you.</a:t>
            </a:r>
            <a:endParaRPr lang="en-US" sz="1300" dirty="0"/>
          </a:p>
        </p:txBody>
      </p:sp>
      <p:sp>
        <p:nvSpPr>
          <p:cNvPr id="8" name="Shape 6"/>
          <p:cNvSpPr/>
          <p:nvPr/>
        </p:nvSpPr>
        <p:spPr>
          <a:xfrm>
            <a:off x="6126480" y="1554480"/>
            <a:ext cx="5212080" cy="2926080"/>
          </a:xfrm>
          <a:prstGeom prst="rect">
            <a:avLst/>
          </a:prstGeom>
          <a:solidFill>
            <a:srgbClr val="EAFBF1"/>
          </a:solidFill>
          <a:ln w="12700">
            <a:solidFill>
              <a:srgbClr val="A8E6C1"/>
            </a:solidFill>
            <a:prstDash val="solid"/>
          </a:ln>
        </p:spPr>
      </p:sp>
      <p:sp>
        <p:nvSpPr>
          <p:cNvPr id="9" name="Text 7"/>
          <p:cNvSpPr/>
          <p:nvPr/>
        </p:nvSpPr>
        <p:spPr>
          <a:xfrm>
            <a:off x="6400800" y="1737360"/>
            <a:ext cx="4663440" cy="365760"/>
          </a:xfrm>
          <a:prstGeom prst="rect">
            <a:avLst/>
          </a:prstGeom>
          <a:noFill/>
          <a:ln/>
        </p:spPr>
        <p:txBody>
          <a:bodyPr wrap="square" rtlCol="0" anchor="ctr"/>
          <a:lstStyle/>
          <a:p>
            <a:pPr indent="0" marL="0">
              <a:buNone/>
            </a:pPr>
            <a:r>
              <a:rPr lang="en-US" sz="1300" b="1" dirty="0">
                <a:solidFill>
                  <a:srgbClr val="1E8449"/>
                </a:solidFill>
                <a:latin typeface="Calibri" pitchFamily="34" charset="0"/>
                <a:ea typeface="Calibri" pitchFamily="34" charset="-122"/>
                <a:cs typeface="Calibri" pitchFamily="34" charset="-120"/>
              </a:rPr>
              <a:t>STRONG PROMPT</a:t>
            </a:r>
            <a:endParaRPr lang="en-US" sz="1300" dirty="0"/>
          </a:p>
        </p:txBody>
      </p:sp>
      <p:sp>
        <p:nvSpPr>
          <p:cNvPr id="10" name="Text 8"/>
          <p:cNvSpPr/>
          <p:nvPr/>
        </p:nvSpPr>
        <p:spPr>
          <a:xfrm>
            <a:off x="6400800" y="2148840"/>
            <a:ext cx="4663440" cy="91440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“Write a 100-word email to a client explaining a 2-day delay, confident tone, ending with a quality guarantee.”</a:t>
            </a:r>
            <a:endParaRPr lang="en-US" sz="1500" dirty="0"/>
          </a:p>
        </p:txBody>
      </p:sp>
      <p:sp>
        <p:nvSpPr>
          <p:cNvPr id="11" name="Text 9"/>
          <p:cNvSpPr/>
          <p:nvPr/>
        </p:nvSpPr>
        <p:spPr>
          <a:xfrm>
            <a:off x="6400800" y="3200400"/>
            <a:ext cx="4663440" cy="109728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Result: ready to send, no editing needed. This is the difference structure makes.</a:t>
            </a:r>
            <a:endParaRPr lang="en-US" sz="1300" dirty="0"/>
          </a:p>
        </p:txBody>
      </p:sp>
      <p:sp>
        <p:nvSpPr>
          <p:cNvPr id="12" name="Text 10"/>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3" name="Text 11"/>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731520" y="1188720"/>
            <a:ext cx="9144000" cy="365760"/>
          </a:xfrm>
          <a:prstGeom prst="rect">
            <a:avLst/>
          </a:prstGeom>
          <a:noFill/>
          <a:ln/>
        </p:spPr>
        <p:txBody>
          <a:bodyPr wrap="square" rtlCol="0" anchor="ctr"/>
          <a:lstStyle/>
          <a:p>
            <a:pPr indent="0" marL="0">
              <a:buNone/>
            </a:pPr>
            <a:r>
              <a:rPr lang="en-US" sz="1400" b="1" spc="300" kern="0" dirty="0">
                <a:solidFill>
                  <a:srgbClr val="F9A826"/>
                </a:solidFill>
                <a:latin typeface="Calibri" pitchFamily="34" charset="0"/>
                <a:ea typeface="Calibri" pitchFamily="34" charset="-122"/>
                <a:cs typeface="Calibri" pitchFamily="34" charset="-120"/>
              </a:rPr>
              <a:t>TODAY'S FOCUS</a:t>
            </a:r>
            <a:endParaRPr lang="en-US" sz="1400" dirty="0"/>
          </a:p>
        </p:txBody>
      </p:sp>
      <p:sp>
        <p:nvSpPr>
          <p:cNvPr id="3" name="Text 1"/>
          <p:cNvSpPr/>
          <p:nvPr/>
        </p:nvSpPr>
        <p:spPr>
          <a:xfrm>
            <a:off x="731520" y="1645920"/>
            <a:ext cx="10515600" cy="1645920"/>
          </a:xfrm>
          <a:prstGeom prst="rect">
            <a:avLst/>
          </a:prstGeom>
          <a:noFill/>
          <a:ln/>
        </p:spPr>
        <p:txBody>
          <a:bodyPr wrap="square" rtlCol="0" anchor="ctr"/>
          <a:lstStyle/>
          <a:p>
            <a:pPr indent="0" marL="0">
              <a:buNone/>
            </a:pPr>
            <a:r>
              <a:rPr lang="en-US" sz="3600" b="1" dirty="0">
                <a:solidFill>
                  <a:srgbClr val="FFFFFF"/>
                </a:solidFill>
                <a:latin typeface="Cambria" pitchFamily="34" charset="0"/>
                <a:ea typeface="Cambria" pitchFamily="34" charset="-122"/>
                <a:cs typeface="Cambria" pitchFamily="34" charset="-120"/>
              </a:rPr>
              <a:t>Every strong prompt is built</a:t>
            </a:r>
            <a:endParaRPr lang="en-US" sz="3600" dirty="0"/>
          </a:p>
          <a:p>
            <a:pPr indent="0" marL="0">
              <a:buNone/>
            </a:pPr>
            <a:r>
              <a:rPr lang="en-US" sz="3600" b="1" dirty="0">
                <a:solidFill>
                  <a:srgbClr val="FFFFFF"/>
                </a:solidFill>
                <a:latin typeface="Cambria" pitchFamily="34" charset="0"/>
                <a:ea typeface="Cambria" pitchFamily="34" charset="-122"/>
                <a:cs typeface="Cambria" pitchFamily="34" charset="-120"/>
              </a:rPr>
              <a:t>from the same 5 elements.</a:t>
            </a:r>
            <a:endParaRPr lang="en-US" sz="3600" dirty="0"/>
          </a:p>
        </p:txBody>
      </p:sp>
      <p:sp>
        <p:nvSpPr>
          <p:cNvPr id="4" name="Text 2"/>
          <p:cNvSpPr/>
          <p:nvPr/>
        </p:nvSpPr>
        <p:spPr>
          <a:xfrm>
            <a:off x="731520" y="3383280"/>
            <a:ext cx="9144000" cy="640080"/>
          </a:xfrm>
          <a:prstGeom prst="rect">
            <a:avLst/>
          </a:prstGeom>
          <a:noFill/>
          <a:ln/>
        </p:spPr>
        <p:txBody>
          <a:bodyPr wrap="square" rtlCol="0" anchor="ctr"/>
          <a:lstStyle/>
          <a:p>
            <a:pPr indent="0" marL="0">
              <a:buNone/>
            </a:pPr>
            <a:r>
              <a:rPr lang="en-US" sz="1600" i="1" dirty="0">
                <a:solidFill>
                  <a:srgbClr val="CADCFC"/>
                </a:solidFill>
                <a:latin typeface="Calibri" pitchFamily="34" charset="0"/>
                <a:ea typeface="Calibri" pitchFamily="34" charset="-122"/>
                <a:cs typeface="Calibri" pitchFamily="34" charset="-120"/>
              </a:rPr>
              <a:t>Once you can spot all five in any prompt — writing your own becomes automatic, not guesswork.</a:t>
            </a:r>
            <a:endParaRPr lang="en-US" sz="1600" dirty="0"/>
          </a:p>
        </p:txBody>
      </p:sp>
      <p:sp>
        <p:nvSpPr>
          <p:cNvPr id="5" name="Text 3"/>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6" name="Text 4"/>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THE FRAMEWORK</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The 5 Core Elements</a:t>
            </a:r>
            <a:endParaRPr lang="en-US" sz="3200" dirty="0"/>
          </a:p>
        </p:txBody>
      </p:sp>
      <p:sp>
        <p:nvSpPr>
          <p:cNvPr id="4" name="Shape 2"/>
          <p:cNvSpPr/>
          <p:nvPr/>
        </p:nvSpPr>
        <p:spPr>
          <a:xfrm>
            <a:off x="548640" y="1737360"/>
            <a:ext cx="2148840" cy="2834640"/>
          </a:xfrm>
          <a:prstGeom prst="rect">
            <a:avLst/>
          </a:prstGeom>
          <a:solidFill>
            <a:srgbClr val="F7F8FC"/>
          </a:solidFill>
          <a:ln w="12700">
            <a:solidFill>
              <a:srgbClr val="E2E5F1"/>
            </a:solidFill>
            <a:prstDash val="solid"/>
          </a:ln>
        </p:spPr>
      </p:sp>
      <p:sp>
        <p:nvSpPr>
          <p:cNvPr id="5" name="Shape 3"/>
          <p:cNvSpPr/>
          <p:nvPr/>
        </p:nvSpPr>
        <p:spPr>
          <a:xfrm>
            <a:off x="1303020" y="2011680"/>
            <a:ext cx="640080" cy="640080"/>
          </a:xfrm>
          <a:prstGeom prst="ellipse">
            <a:avLst/>
          </a:prstGeom>
          <a:solidFill>
            <a:srgbClr val="1E2761"/>
          </a:solidFill>
          <a:ln/>
        </p:spPr>
      </p:sp>
      <p:sp>
        <p:nvSpPr>
          <p:cNvPr id="6" name="Text 4"/>
          <p:cNvSpPr/>
          <p:nvPr/>
        </p:nvSpPr>
        <p:spPr>
          <a:xfrm>
            <a:off x="1303020" y="2011680"/>
            <a:ext cx="640080" cy="6400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sp>
        <p:nvSpPr>
          <p:cNvPr id="7" name="Text 5"/>
          <p:cNvSpPr/>
          <p:nvPr/>
        </p:nvSpPr>
        <p:spPr>
          <a:xfrm>
            <a:off x="685800" y="2834640"/>
            <a:ext cx="1874520" cy="41148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Context</a:t>
            </a:r>
            <a:endParaRPr lang="en-US" sz="1700" dirty="0"/>
          </a:p>
        </p:txBody>
      </p:sp>
      <p:sp>
        <p:nvSpPr>
          <p:cNvPr id="8" name="Text 6"/>
          <p:cNvSpPr/>
          <p:nvPr/>
        </p:nvSpPr>
        <p:spPr>
          <a:xfrm>
            <a:off x="685800" y="3291840"/>
            <a:ext cx="1874520" cy="1097280"/>
          </a:xfrm>
          <a:prstGeom prst="rect">
            <a:avLst/>
          </a:prstGeom>
          <a:noFill/>
          <a:ln/>
        </p:spPr>
        <p:txBody>
          <a:bodyPr wrap="square" rtlCol="0" anchor="ctr"/>
          <a:lstStyle/>
          <a:p>
            <a:pPr algn="ctr" indent="0" marL="0">
              <a:buNone/>
            </a:pPr>
            <a:r>
              <a:rPr lang="en-US" sz="1150" dirty="0">
                <a:solidFill>
                  <a:srgbClr val="3A3A3A"/>
                </a:solidFill>
                <a:latin typeface="Calibri" pitchFamily="34" charset="0"/>
                <a:ea typeface="Calibri" pitchFamily="34" charset="-122"/>
                <a:cs typeface="Calibri" pitchFamily="34" charset="-120"/>
              </a:rPr>
              <a:t>Who you are, who it's for</a:t>
            </a:r>
            <a:endParaRPr lang="en-US" sz="1150" dirty="0"/>
          </a:p>
        </p:txBody>
      </p:sp>
      <p:sp>
        <p:nvSpPr>
          <p:cNvPr id="9" name="Shape 7"/>
          <p:cNvSpPr/>
          <p:nvPr/>
        </p:nvSpPr>
        <p:spPr>
          <a:xfrm>
            <a:off x="2834640" y="1737360"/>
            <a:ext cx="2148840" cy="2834640"/>
          </a:xfrm>
          <a:prstGeom prst="rect">
            <a:avLst/>
          </a:prstGeom>
          <a:solidFill>
            <a:srgbClr val="FFFFFF"/>
          </a:solidFill>
          <a:ln w="12700">
            <a:solidFill>
              <a:srgbClr val="E2E5F1"/>
            </a:solidFill>
            <a:prstDash val="solid"/>
          </a:ln>
        </p:spPr>
      </p:sp>
      <p:sp>
        <p:nvSpPr>
          <p:cNvPr id="10" name="Shape 8"/>
          <p:cNvSpPr/>
          <p:nvPr/>
        </p:nvSpPr>
        <p:spPr>
          <a:xfrm>
            <a:off x="3589020" y="2011680"/>
            <a:ext cx="640080" cy="640080"/>
          </a:xfrm>
          <a:prstGeom prst="ellipse">
            <a:avLst/>
          </a:prstGeom>
          <a:solidFill>
            <a:srgbClr val="1E2761"/>
          </a:solidFill>
          <a:ln/>
        </p:spPr>
      </p:sp>
      <p:sp>
        <p:nvSpPr>
          <p:cNvPr id="11" name="Text 9"/>
          <p:cNvSpPr/>
          <p:nvPr/>
        </p:nvSpPr>
        <p:spPr>
          <a:xfrm>
            <a:off x="3589020" y="2011680"/>
            <a:ext cx="640080" cy="6400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sp>
        <p:nvSpPr>
          <p:cNvPr id="12" name="Text 10"/>
          <p:cNvSpPr/>
          <p:nvPr/>
        </p:nvSpPr>
        <p:spPr>
          <a:xfrm>
            <a:off x="2971800" y="2834640"/>
            <a:ext cx="1874520" cy="41148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Task</a:t>
            </a:r>
            <a:endParaRPr lang="en-US" sz="1700" dirty="0"/>
          </a:p>
        </p:txBody>
      </p:sp>
      <p:sp>
        <p:nvSpPr>
          <p:cNvPr id="13" name="Text 11"/>
          <p:cNvSpPr/>
          <p:nvPr/>
        </p:nvSpPr>
        <p:spPr>
          <a:xfrm>
            <a:off x="2971800" y="3291840"/>
            <a:ext cx="1874520" cy="1097280"/>
          </a:xfrm>
          <a:prstGeom prst="rect">
            <a:avLst/>
          </a:prstGeom>
          <a:noFill/>
          <a:ln/>
        </p:spPr>
        <p:txBody>
          <a:bodyPr wrap="square" rtlCol="0" anchor="ctr"/>
          <a:lstStyle/>
          <a:p>
            <a:pPr algn="ctr" indent="0" marL="0">
              <a:buNone/>
            </a:pPr>
            <a:r>
              <a:rPr lang="en-US" sz="1150" dirty="0">
                <a:solidFill>
                  <a:srgbClr val="3A3A3A"/>
                </a:solidFill>
                <a:latin typeface="Calibri" pitchFamily="34" charset="0"/>
                <a:ea typeface="Calibri" pitchFamily="34" charset="-122"/>
                <a:cs typeface="Calibri" pitchFamily="34" charset="-120"/>
              </a:rPr>
              <a:t>Exactly what you want done</a:t>
            </a:r>
            <a:endParaRPr lang="en-US" sz="1150" dirty="0"/>
          </a:p>
        </p:txBody>
      </p:sp>
      <p:sp>
        <p:nvSpPr>
          <p:cNvPr id="14" name="Shape 12"/>
          <p:cNvSpPr/>
          <p:nvPr/>
        </p:nvSpPr>
        <p:spPr>
          <a:xfrm>
            <a:off x="5120640" y="1737360"/>
            <a:ext cx="2148840" cy="2834640"/>
          </a:xfrm>
          <a:prstGeom prst="rect">
            <a:avLst/>
          </a:prstGeom>
          <a:solidFill>
            <a:srgbClr val="F7F8FC"/>
          </a:solidFill>
          <a:ln w="12700">
            <a:solidFill>
              <a:srgbClr val="E2E5F1"/>
            </a:solidFill>
            <a:prstDash val="solid"/>
          </a:ln>
        </p:spPr>
      </p:sp>
      <p:sp>
        <p:nvSpPr>
          <p:cNvPr id="15" name="Shape 13"/>
          <p:cNvSpPr/>
          <p:nvPr/>
        </p:nvSpPr>
        <p:spPr>
          <a:xfrm>
            <a:off x="5875020" y="2011680"/>
            <a:ext cx="640080" cy="640080"/>
          </a:xfrm>
          <a:prstGeom prst="ellipse">
            <a:avLst/>
          </a:prstGeom>
          <a:solidFill>
            <a:srgbClr val="1E2761"/>
          </a:solidFill>
          <a:ln/>
        </p:spPr>
      </p:sp>
      <p:sp>
        <p:nvSpPr>
          <p:cNvPr id="16" name="Text 14"/>
          <p:cNvSpPr/>
          <p:nvPr/>
        </p:nvSpPr>
        <p:spPr>
          <a:xfrm>
            <a:off x="5875020" y="2011680"/>
            <a:ext cx="640080" cy="6400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sp>
        <p:nvSpPr>
          <p:cNvPr id="17" name="Text 15"/>
          <p:cNvSpPr/>
          <p:nvPr/>
        </p:nvSpPr>
        <p:spPr>
          <a:xfrm>
            <a:off x="5257800" y="2834640"/>
            <a:ext cx="1874520" cy="41148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Format</a:t>
            </a:r>
            <a:endParaRPr lang="en-US" sz="1700" dirty="0"/>
          </a:p>
        </p:txBody>
      </p:sp>
      <p:sp>
        <p:nvSpPr>
          <p:cNvPr id="18" name="Text 16"/>
          <p:cNvSpPr/>
          <p:nvPr/>
        </p:nvSpPr>
        <p:spPr>
          <a:xfrm>
            <a:off x="5257800" y="3291840"/>
            <a:ext cx="1874520" cy="1097280"/>
          </a:xfrm>
          <a:prstGeom prst="rect">
            <a:avLst/>
          </a:prstGeom>
          <a:noFill/>
          <a:ln/>
        </p:spPr>
        <p:txBody>
          <a:bodyPr wrap="square" rtlCol="0" anchor="ctr"/>
          <a:lstStyle/>
          <a:p>
            <a:pPr algn="ctr" indent="0" marL="0">
              <a:buNone/>
            </a:pPr>
            <a:r>
              <a:rPr lang="en-US" sz="1150" dirty="0">
                <a:solidFill>
                  <a:srgbClr val="3A3A3A"/>
                </a:solidFill>
                <a:latin typeface="Calibri" pitchFamily="34" charset="0"/>
                <a:ea typeface="Calibri" pitchFamily="34" charset="-122"/>
                <a:cs typeface="Calibri" pitchFamily="34" charset="-120"/>
              </a:rPr>
              <a:t>The shape of the output</a:t>
            </a:r>
            <a:endParaRPr lang="en-US" sz="1150" dirty="0"/>
          </a:p>
        </p:txBody>
      </p:sp>
      <p:sp>
        <p:nvSpPr>
          <p:cNvPr id="19" name="Shape 17"/>
          <p:cNvSpPr/>
          <p:nvPr/>
        </p:nvSpPr>
        <p:spPr>
          <a:xfrm>
            <a:off x="7406640" y="1737360"/>
            <a:ext cx="2148840" cy="2834640"/>
          </a:xfrm>
          <a:prstGeom prst="rect">
            <a:avLst/>
          </a:prstGeom>
          <a:solidFill>
            <a:srgbClr val="FFFFFF"/>
          </a:solidFill>
          <a:ln w="12700">
            <a:solidFill>
              <a:srgbClr val="E2E5F1"/>
            </a:solidFill>
            <a:prstDash val="solid"/>
          </a:ln>
        </p:spPr>
      </p:sp>
      <p:sp>
        <p:nvSpPr>
          <p:cNvPr id="20" name="Shape 18"/>
          <p:cNvSpPr/>
          <p:nvPr/>
        </p:nvSpPr>
        <p:spPr>
          <a:xfrm>
            <a:off x="8161020" y="2011680"/>
            <a:ext cx="640080" cy="640080"/>
          </a:xfrm>
          <a:prstGeom prst="ellipse">
            <a:avLst/>
          </a:prstGeom>
          <a:solidFill>
            <a:srgbClr val="1E2761"/>
          </a:solidFill>
          <a:ln/>
        </p:spPr>
      </p:sp>
      <p:sp>
        <p:nvSpPr>
          <p:cNvPr id="21" name="Text 19"/>
          <p:cNvSpPr/>
          <p:nvPr/>
        </p:nvSpPr>
        <p:spPr>
          <a:xfrm>
            <a:off x="8161020" y="2011680"/>
            <a:ext cx="640080" cy="6400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sp>
        <p:nvSpPr>
          <p:cNvPr id="22" name="Text 20"/>
          <p:cNvSpPr/>
          <p:nvPr/>
        </p:nvSpPr>
        <p:spPr>
          <a:xfrm>
            <a:off x="7543800" y="2834640"/>
            <a:ext cx="1874520" cy="41148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Tone</a:t>
            </a:r>
            <a:endParaRPr lang="en-US" sz="1700" dirty="0"/>
          </a:p>
        </p:txBody>
      </p:sp>
      <p:sp>
        <p:nvSpPr>
          <p:cNvPr id="23" name="Text 21"/>
          <p:cNvSpPr/>
          <p:nvPr/>
        </p:nvSpPr>
        <p:spPr>
          <a:xfrm>
            <a:off x="7543800" y="3291840"/>
            <a:ext cx="1874520" cy="1097280"/>
          </a:xfrm>
          <a:prstGeom prst="rect">
            <a:avLst/>
          </a:prstGeom>
          <a:noFill/>
          <a:ln/>
        </p:spPr>
        <p:txBody>
          <a:bodyPr wrap="square" rtlCol="0" anchor="ctr"/>
          <a:lstStyle/>
          <a:p>
            <a:pPr algn="ctr" indent="0" marL="0">
              <a:buNone/>
            </a:pPr>
            <a:r>
              <a:rPr lang="en-US" sz="1150" dirty="0">
                <a:solidFill>
                  <a:srgbClr val="3A3A3A"/>
                </a:solidFill>
                <a:latin typeface="Calibri" pitchFamily="34" charset="0"/>
                <a:ea typeface="Calibri" pitchFamily="34" charset="-122"/>
                <a:cs typeface="Calibri" pitchFamily="34" charset="-120"/>
              </a:rPr>
              <a:t>How it should sound</a:t>
            </a:r>
            <a:endParaRPr lang="en-US" sz="1150" dirty="0"/>
          </a:p>
        </p:txBody>
      </p:sp>
      <p:sp>
        <p:nvSpPr>
          <p:cNvPr id="24" name="Shape 22"/>
          <p:cNvSpPr/>
          <p:nvPr/>
        </p:nvSpPr>
        <p:spPr>
          <a:xfrm>
            <a:off x="9692640" y="1737360"/>
            <a:ext cx="2148840" cy="2834640"/>
          </a:xfrm>
          <a:prstGeom prst="rect">
            <a:avLst/>
          </a:prstGeom>
          <a:solidFill>
            <a:srgbClr val="F7F8FC"/>
          </a:solidFill>
          <a:ln w="12700">
            <a:solidFill>
              <a:srgbClr val="E2E5F1"/>
            </a:solidFill>
            <a:prstDash val="solid"/>
          </a:ln>
        </p:spPr>
      </p:sp>
      <p:sp>
        <p:nvSpPr>
          <p:cNvPr id="25" name="Shape 23"/>
          <p:cNvSpPr/>
          <p:nvPr/>
        </p:nvSpPr>
        <p:spPr>
          <a:xfrm>
            <a:off x="10447020" y="2011680"/>
            <a:ext cx="640080" cy="640080"/>
          </a:xfrm>
          <a:prstGeom prst="ellipse">
            <a:avLst/>
          </a:prstGeom>
          <a:solidFill>
            <a:srgbClr val="1E2761"/>
          </a:solidFill>
          <a:ln/>
        </p:spPr>
      </p:sp>
      <p:sp>
        <p:nvSpPr>
          <p:cNvPr id="26" name="Text 24"/>
          <p:cNvSpPr/>
          <p:nvPr/>
        </p:nvSpPr>
        <p:spPr>
          <a:xfrm>
            <a:off x="10447020" y="2011680"/>
            <a:ext cx="640080" cy="640080"/>
          </a:xfrm>
          <a:prstGeom prst="rect">
            <a:avLst/>
          </a:prstGeom>
          <a:noFill/>
          <a:ln/>
        </p:spPr>
        <p:txBody>
          <a:bodyPr wrap="square" rtlCol="0" anchor="ctr"/>
          <a:lstStyle/>
          <a:p>
            <a:pPr algn="ctr" indent="0" marL="0">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sp>
        <p:nvSpPr>
          <p:cNvPr id="27" name="Text 25"/>
          <p:cNvSpPr/>
          <p:nvPr/>
        </p:nvSpPr>
        <p:spPr>
          <a:xfrm>
            <a:off x="9829800" y="2834640"/>
            <a:ext cx="1874520" cy="411480"/>
          </a:xfrm>
          <a:prstGeom prst="rect">
            <a:avLst/>
          </a:prstGeom>
          <a:noFill/>
          <a:ln/>
        </p:spPr>
        <p:txBody>
          <a:bodyPr wrap="square" rtlCol="0" anchor="ctr"/>
          <a:lstStyle/>
          <a:p>
            <a:pPr algn="ctr" indent="0" marL="0">
              <a:buNone/>
            </a:pPr>
            <a:r>
              <a:rPr lang="en-US" sz="1700" b="1" dirty="0">
                <a:solidFill>
                  <a:srgbClr val="1E2761"/>
                </a:solidFill>
                <a:latin typeface="Cambria" pitchFamily="34" charset="0"/>
                <a:ea typeface="Cambria" pitchFamily="34" charset="-122"/>
                <a:cs typeface="Cambria" pitchFamily="34" charset="-120"/>
              </a:rPr>
              <a:t>Constraints</a:t>
            </a:r>
            <a:endParaRPr lang="en-US" sz="1700" dirty="0"/>
          </a:p>
        </p:txBody>
      </p:sp>
      <p:sp>
        <p:nvSpPr>
          <p:cNvPr id="28" name="Text 26"/>
          <p:cNvSpPr/>
          <p:nvPr/>
        </p:nvSpPr>
        <p:spPr>
          <a:xfrm>
            <a:off x="9829800" y="3291840"/>
            <a:ext cx="1874520" cy="1097280"/>
          </a:xfrm>
          <a:prstGeom prst="rect">
            <a:avLst/>
          </a:prstGeom>
          <a:noFill/>
          <a:ln/>
        </p:spPr>
        <p:txBody>
          <a:bodyPr wrap="square" rtlCol="0" anchor="ctr"/>
          <a:lstStyle/>
          <a:p>
            <a:pPr algn="ctr" indent="0" marL="0">
              <a:buNone/>
            </a:pPr>
            <a:r>
              <a:rPr lang="en-US" sz="1150" dirty="0">
                <a:solidFill>
                  <a:srgbClr val="3A3A3A"/>
                </a:solidFill>
                <a:latin typeface="Calibri" pitchFamily="34" charset="0"/>
                <a:ea typeface="Calibri" pitchFamily="34" charset="-122"/>
                <a:cs typeface="Calibri" pitchFamily="34" charset="-120"/>
              </a:rPr>
              <a:t>Limits — length, style, rules</a:t>
            </a:r>
            <a:endParaRPr lang="en-US" sz="1150" dirty="0"/>
          </a:p>
        </p:txBody>
      </p:sp>
      <p:sp>
        <p:nvSpPr>
          <p:cNvPr id="29" name="Text 27"/>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30" name="Text 28"/>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1 OF 5</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Context — Who You Are, Who It's For</a:t>
            </a:r>
            <a:endParaRPr lang="en-US" sz="3200" dirty="0"/>
          </a:p>
        </p:txBody>
      </p:sp>
      <p:sp>
        <p:nvSpPr>
          <p:cNvPr id="4" name="Shape 2"/>
          <p:cNvSpPr/>
          <p:nvPr/>
        </p:nvSpPr>
        <p:spPr>
          <a:xfrm>
            <a:off x="548640" y="1554480"/>
            <a:ext cx="109728" cy="2926080"/>
          </a:xfrm>
          <a:prstGeom prst="rect">
            <a:avLst/>
          </a:prstGeom>
          <a:solidFill>
            <a:srgbClr val="F9A826"/>
          </a:solidFill>
          <a:ln/>
        </p:spPr>
      </p:sp>
      <p:sp>
        <p:nvSpPr>
          <p:cNvPr id="5" name="Text 3"/>
          <p:cNvSpPr/>
          <p:nvPr/>
        </p:nvSpPr>
        <p:spPr>
          <a:xfrm>
            <a:off x="914400" y="1600200"/>
            <a:ext cx="10058400" cy="1463040"/>
          </a:xfrm>
          <a:prstGeom prst="rect">
            <a:avLst/>
          </a:prstGeom>
          <a:noFill/>
          <a:ln/>
        </p:spPr>
        <p:txBody>
          <a:bodyPr wrap="square" rtlCol="0" anchor="t"/>
          <a:lstStyle/>
          <a:p>
            <a:pPr indent="0" marL="0">
              <a:buNone/>
            </a:pPr>
            <a:r>
              <a:rPr lang="en-US" sz="2200" i="1" dirty="0">
                <a:solidFill>
                  <a:srgbClr val="1E2761"/>
                </a:solidFill>
                <a:latin typeface="Cambria" pitchFamily="34" charset="0"/>
                <a:ea typeface="Cambria" pitchFamily="34" charset="-122"/>
                <a:cs typeface="Cambria" pitchFamily="34" charset="-120"/>
              </a:rPr>
              <a:t>Context tells the AI the background it needs before it can give a useful answer.</a:t>
            </a:r>
            <a:endParaRPr lang="en-US" sz="2200" dirty="0"/>
          </a:p>
        </p:txBody>
      </p:sp>
      <p:sp>
        <p:nvSpPr>
          <p:cNvPr id="6" name="Text 4"/>
          <p:cNvSpPr/>
          <p:nvPr/>
        </p:nvSpPr>
        <p:spPr>
          <a:xfrm>
            <a:off x="914400" y="3200400"/>
            <a:ext cx="5486400" cy="320040"/>
          </a:xfrm>
          <a:prstGeom prst="rect">
            <a:avLst/>
          </a:prstGeom>
          <a:noFill/>
          <a:ln/>
        </p:spPr>
        <p:txBody>
          <a:bodyPr wrap="square"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WHY IT MATTERS</a:t>
            </a:r>
            <a:endParaRPr lang="en-US" sz="1200" dirty="0"/>
          </a:p>
        </p:txBody>
      </p:sp>
      <p:sp>
        <p:nvSpPr>
          <p:cNvPr id="7" name="Text 5"/>
          <p:cNvSpPr/>
          <p:nvPr/>
        </p:nvSpPr>
        <p:spPr>
          <a:xfrm>
            <a:off x="914400" y="3520440"/>
            <a:ext cx="9784080" cy="914400"/>
          </a:xfrm>
          <a:prstGeom prst="rect">
            <a:avLst/>
          </a:prstGeom>
          <a:noFill/>
          <a:ln/>
        </p:spPr>
        <p:txBody>
          <a:bodyPr wrap="square" rtlCol="0" anchor="ctr"/>
          <a:lstStyle/>
          <a:p>
            <a:pPr indent="0" marL="0">
              <a:buNone/>
            </a:pPr>
            <a:r>
              <a:rPr lang="en-US" sz="1500" dirty="0">
                <a:solidFill>
                  <a:srgbClr val="3A3A3A"/>
                </a:solidFill>
                <a:latin typeface="Calibri" pitchFamily="34" charset="0"/>
                <a:ea typeface="Calibri" pitchFamily="34" charset="-122"/>
                <a:cs typeface="Calibri" pitchFamily="34" charset="-120"/>
              </a:rPr>
              <a:t>Without context, AI guesses at your situation. With it, the AI adjusts vocabulary, depth, and relevance to your actual audience — a doctor writing to patients needs very different words than a doctor writing to other doctors.</a:t>
            </a:r>
            <a:endParaRPr lang="en-US" sz="150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9"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1 — IN PRACTICE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Context Changes Everything</a:t>
            </a:r>
            <a:endParaRPr lang="en-US" sz="2600" dirty="0"/>
          </a:p>
        </p:txBody>
      </p:sp>
      <p:sp>
        <p:nvSpPr>
          <p:cNvPr id="4" name="Shape 2"/>
          <p:cNvSpPr/>
          <p:nvPr/>
        </p:nvSpPr>
        <p:spPr>
          <a:xfrm>
            <a:off x="548640" y="1554480"/>
            <a:ext cx="11064240" cy="1280160"/>
          </a:xfrm>
          <a:prstGeom prst="rect">
            <a:avLst/>
          </a:prstGeom>
          <a:solidFill>
            <a:srgbClr val="FDEDEC"/>
          </a:solidFill>
          <a:ln w="12700">
            <a:solidFill>
              <a:srgbClr val="F1B0AC"/>
            </a:solidFill>
            <a:prstDash val="solid"/>
          </a:ln>
        </p:spPr>
      </p:sp>
      <p:sp>
        <p:nvSpPr>
          <p:cNvPr id="5" name="Text 3"/>
          <p:cNvSpPr/>
          <p:nvPr/>
        </p:nvSpPr>
        <p:spPr>
          <a:xfrm>
            <a:off x="822960" y="1673352"/>
            <a:ext cx="1828800"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WITHOUT</a:t>
            </a:r>
            <a:endParaRPr lang="en-US" sz="1100" dirty="0"/>
          </a:p>
        </p:txBody>
      </p:sp>
      <p:sp>
        <p:nvSpPr>
          <p:cNvPr id="6" name="Text 4"/>
          <p:cNvSpPr/>
          <p:nvPr/>
        </p:nvSpPr>
        <p:spPr>
          <a:xfrm>
            <a:off x="822960" y="1920240"/>
            <a:ext cx="10515600" cy="86868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“Explain how inflation works.”</a:t>
            </a:r>
            <a:endParaRPr lang="en-US" sz="1500" dirty="0"/>
          </a:p>
        </p:txBody>
      </p:sp>
      <p:sp>
        <p:nvSpPr>
          <p:cNvPr id="7" name="Shape 5"/>
          <p:cNvSpPr/>
          <p:nvPr/>
        </p:nvSpPr>
        <p:spPr>
          <a:xfrm>
            <a:off x="548640" y="3017520"/>
            <a:ext cx="11064240" cy="1691640"/>
          </a:xfrm>
          <a:prstGeom prst="rect">
            <a:avLst/>
          </a:prstGeom>
          <a:solidFill>
            <a:srgbClr val="EAFBF1"/>
          </a:solidFill>
          <a:ln w="12700">
            <a:solidFill>
              <a:srgbClr val="A8E6C1"/>
            </a:solidFill>
            <a:prstDash val="solid"/>
          </a:ln>
        </p:spPr>
      </p:sp>
      <p:sp>
        <p:nvSpPr>
          <p:cNvPr id="8" name="Text 6"/>
          <p:cNvSpPr/>
          <p:nvPr/>
        </p:nvSpPr>
        <p:spPr>
          <a:xfrm>
            <a:off x="822960" y="3136392"/>
            <a:ext cx="1828800" cy="274320"/>
          </a:xfrm>
          <a:prstGeom prst="rect">
            <a:avLst/>
          </a:prstGeom>
          <a:noFill/>
          <a:ln/>
        </p:spPr>
        <p:txBody>
          <a:bodyPr wrap="square" rtlCol="0" anchor="ctr"/>
          <a:lstStyle/>
          <a:p>
            <a:pPr indent="0" marL="0">
              <a:buNone/>
            </a:pPr>
            <a:r>
              <a:rPr lang="en-US" sz="1100" b="1" dirty="0">
                <a:solidFill>
                  <a:srgbClr val="1E8449"/>
                </a:solidFill>
                <a:latin typeface="Calibri" pitchFamily="34" charset="0"/>
                <a:ea typeface="Calibri" pitchFamily="34" charset="-122"/>
                <a:cs typeface="Calibri" pitchFamily="34" charset="-120"/>
              </a:rPr>
              <a:t>WITH</a:t>
            </a:r>
            <a:endParaRPr lang="en-US" sz="1100" dirty="0"/>
          </a:p>
        </p:txBody>
      </p:sp>
      <p:sp>
        <p:nvSpPr>
          <p:cNvPr id="9" name="Text 7"/>
          <p:cNvSpPr/>
          <p:nvPr/>
        </p:nvSpPr>
        <p:spPr>
          <a:xfrm>
            <a:off x="822960" y="3383280"/>
            <a:ext cx="10515600" cy="123444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“I run a small clothing store and I'm explaining to my staff why prices are going up. Explain how inflation works in simple, everyday terms they can repeat to customers.”</a:t>
            </a:r>
            <a:endParaRPr lang="en-US" sz="1500" dirty="0"/>
          </a:p>
        </p:txBody>
      </p:sp>
      <p:sp>
        <p:nvSpPr>
          <p:cNvPr id="10" name="Text 8"/>
          <p:cNvSpPr/>
          <p:nvPr/>
        </p:nvSpPr>
        <p:spPr>
          <a:xfrm>
            <a:off x="548640" y="4892040"/>
            <a:ext cx="11064240" cy="548640"/>
          </a:xfrm>
          <a:prstGeom prst="rect">
            <a:avLst/>
          </a:prstGeom>
          <a:noFill/>
          <a:ln/>
        </p:spPr>
        <p:txBody>
          <a:bodyPr wrap="square"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Same topic — completely different explanation, because the AI now knows the audience and the purpose.</a:t>
            </a:r>
            <a:endParaRPr lang="en-US" sz="13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2 OF 5</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Task — Exactly What You Want Done</a:t>
            </a:r>
            <a:endParaRPr lang="en-US" sz="3200" dirty="0"/>
          </a:p>
        </p:txBody>
      </p:sp>
      <p:sp>
        <p:nvSpPr>
          <p:cNvPr id="4" name="Shape 2"/>
          <p:cNvSpPr/>
          <p:nvPr/>
        </p:nvSpPr>
        <p:spPr>
          <a:xfrm>
            <a:off x="548640" y="1554480"/>
            <a:ext cx="109728" cy="2926080"/>
          </a:xfrm>
          <a:prstGeom prst="rect">
            <a:avLst/>
          </a:prstGeom>
          <a:solidFill>
            <a:srgbClr val="F9A826"/>
          </a:solidFill>
          <a:ln/>
        </p:spPr>
      </p:sp>
      <p:sp>
        <p:nvSpPr>
          <p:cNvPr id="5" name="Text 3"/>
          <p:cNvSpPr/>
          <p:nvPr/>
        </p:nvSpPr>
        <p:spPr>
          <a:xfrm>
            <a:off x="914400" y="1600200"/>
            <a:ext cx="10058400" cy="1463040"/>
          </a:xfrm>
          <a:prstGeom prst="rect">
            <a:avLst/>
          </a:prstGeom>
          <a:noFill/>
          <a:ln/>
        </p:spPr>
        <p:txBody>
          <a:bodyPr wrap="square" rtlCol="0" anchor="t"/>
          <a:lstStyle/>
          <a:p>
            <a:pPr indent="0" marL="0">
              <a:buNone/>
            </a:pPr>
            <a:r>
              <a:rPr lang="en-US" sz="2200" i="1" dirty="0">
                <a:solidFill>
                  <a:srgbClr val="1E2761"/>
                </a:solidFill>
                <a:latin typeface="Cambria" pitchFamily="34" charset="0"/>
                <a:ea typeface="Cambria" pitchFamily="34" charset="-122"/>
                <a:cs typeface="Cambria" pitchFamily="34" charset="-120"/>
              </a:rPr>
              <a:t>The task is the specific action you're asking the AI to perform — stated clearly, not implied.</a:t>
            </a:r>
            <a:endParaRPr lang="en-US" sz="2200" dirty="0"/>
          </a:p>
        </p:txBody>
      </p:sp>
      <p:sp>
        <p:nvSpPr>
          <p:cNvPr id="6" name="Text 4"/>
          <p:cNvSpPr/>
          <p:nvPr/>
        </p:nvSpPr>
        <p:spPr>
          <a:xfrm>
            <a:off x="914400" y="3200400"/>
            <a:ext cx="5486400" cy="320040"/>
          </a:xfrm>
          <a:prstGeom prst="rect">
            <a:avLst/>
          </a:prstGeom>
          <a:noFill/>
          <a:ln/>
        </p:spPr>
        <p:txBody>
          <a:bodyPr wrap="square"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WHY IT MATTERS</a:t>
            </a:r>
            <a:endParaRPr lang="en-US" sz="1200" dirty="0"/>
          </a:p>
        </p:txBody>
      </p:sp>
      <p:sp>
        <p:nvSpPr>
          <p:cNvPr id="7" name="Text 5"/>
          <p:cNvSpPr/>
          <p:nvPr/>
        </p:nvSpPr>
        <p:spPr>
          <a:xfrm>
            <a:off x="914400" y="3520440"/>
            <a:ext cx="9784080" cy="914400"/>
          </a:xfrm>
          <a:prstGeom prst="rect">
            <a:avLst/>
          </a:prstGeom>
          <a:noFill/>
          <a:ln/>
        </p:spPr>
        <p:txBody>
          <a:bodyPr wrap="square" rtlCol="0" anchor="ctr"/>
          <a:lstStyle/>
          <a:p>
            <a:pPr indent="0" marL="0">
              <a:buNone/>
            </a:pPr>
            <a:r>
              <a:rPr lang="en-US" sz="1500" dirty="0">
                <a:solidFill>
                  <a:srgbClr val="3A3A3A"/>
                </a:solidFill>
                <a:latin typeface="Calibri" pitchFamily="34" charset="0"/>
                <a:ea typeface="Calibri" pitchFamily="34" charset="-122"/>
                <a:cs typeface="Calibri" pitchFamily="34" charset="-120"/>
              </a:rPr>
              <a:t>Vague tasks (“help me with this”) force the AI to guess your goal. A clear task (“summarize this into 3 bullet points”) removes all guesswork and gets you a usable result on the first try.</a:t>
            </a:r>
            <a:endParaRPr lang="en-US" sz="150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9"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2 — IN PRACTICE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A Clear Task Removes the Guesswork</a:t>
            </a:r>
            <a:endParaRPr lang="en-US" sz="2600" dirty="0"/>
          </a:p>
        </p:txBody>
      </p:sp>
      <p:sp>
        <p:nvSpPr>
          <p:cNvPr id="4" name="Shape 2"/>
          <p:cNvSpPr/>
          <p:nvPr/>
        </p:nvSpPr>
        <p:spPr>
          <a:xfrm>
            <a:off x="548640" y="1554480"/>
            <a:ext cx="11064240" cy="1280160"/>
          </a:xfrm>
          <a:prstGeom prst="rect">
            <a:avLst/>
          </a:prstGeom>
          <a:solidFill>
            <a:srgbClr val="FDEDEC"/>
          </a:solidFill>
          <a:ln w="12700">
            <a:solidFill>
              <a:srgbClr val="F1B0AC"/>
            </a:solidFill>
            <a:prstDash val="solid"/>
          </a:ln>
        </p:spPr>
      </p:sp>
      <p:sp>
        <p:nvSpPr>
          <p:cNvPr id="5" name="Text 3"/>
          <p:cNvSpPr/>
          <p:nvPr/>
        </p:nvSpPr>
        <p:spPr>
          <a:xfrm>
            <a:off x="822960" y="1673352"/>
            <a:ext cx="1828800"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WITHOUT</a:t>
            </a:r>
            <a:endParaRPr lang="en-US" sz="1100" dirty="0"/>
          </a:p>
        </p:txBody>
      </p:sp>
      <p:sp>
        <p:nvSpPr>
          <p:cNvPr id="6" name="Text 4"/>
          <p:cNvSpPr/>
          <p:nvPr/>
        </p:nvSpPr>
        <p:spPr>
          <a:xfrm>
            <a:off x="822960" y="1920240"/>
            <a:ext cx="10515600" cy="86868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“Can you look at this product description?”</a:t>
            </a:r>
            <a:endParaRPr lang="en-US" sz="1500" dirty="0"/>
          </a:p>
        </p:txBody>
      </p:sp>
      <p:sp>
        <p:nvSpPr>
          <p:cNvPr id="7" name="Shape 5"/>
          <p:cNvSpPr/>
          <p:nvPr/>
        </p:nvSpPr>
        <p:spPr>
          <a:xfrm>
            <a:off x="548640" y="3017520"/>
            <a:ext cx="11064240" cy="1691640"/>
          </a:xfrm>
          <a:prstGeom prst="rect">
            <a:avLst/>
          </a:prstGeom>
          <a:solidFill>
            <a:srgbClr val="EAFBF1"/>
          </a:solidFill>
          <a:ln w="12700">
            <a:solidFill>
              <a:srgbClr val="A8E6C1"/>
            </a:solidFill>
            <a:prstDash val="solid"/>
          </a:ln>
        </p:spPr>
      </p:sp>
      <p:sp>
        <p:nvSpPr>
          <p:cNvPr id="8" name="Text 6"/>
          <p:cNvSpPr/>
          <p:nvPr/>
        </p:nvSpPr>
        <p:spPr>
          <a:xfrm>
            <a:off x="822960" y="3136392"/>
            <a:ext cx="1828800" cy="274320"/>
          </a:xfrm>
          <a:prstGeom prst="rect">
            <a:avLst/>
          </a:prstGeom>
          <a:noFill/>
          <a:ln/>
        </p:spPr>
        <p:txBody>
          <a:bodyPr wrap="square" rtlCol="0" anchor="ctr"/>
          <a:lstStyle/>
          <a:p>
            <a:pPr indent="0" marL="0">
              <a:buNone/>
            </a:pPr>
            <a:r>
              <a:rPr lang="en-US" sz="1100" b="1" dirty="0">
                <a:solidFill>
                  <a:srgbClr val="1E8449"/>
                </a:solidFill>
                <a:latin typeface="Calibri" pitchFamily="34" charset="0"/>
                <a:ea typeface="Calibri" pitchFamily="34" charset="-122"/>
                <a:cs typeface="Calibri" pitchFamily="34" charset="-120"/>
              </a:rPr>
              <a:t>WITH</a:t>
            </a:r>
            <a:endParaRPr lang="en-US" sz="1100" dirty="0"/>
          </a:p>
        </p:txBody>
      </p:sp>
      <p:sp>
        <p:nvSpPr>
          <p:cNvPr id="9" name="Text 7"/>
          <p:cNvSpPr/>
          <p:nvPr/>
        </p:nvSpPr>
        <p:spPr>
          <a:xfrm>
            <a:off x="822960" y="3383280"/>
            <a:ext cx="10515600" cy="123444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“Rewrite this product description to highlight 3 key benefits, and make the opening line grab attention within the first 5 words.”</a:t>
            </a:r>
            <a:endParaRPr lang="en-US" sz="1500" dirty="0"/>
          </a:p>
        </p:txBody>
      </p:sp>
      <p:sp>
        <p:nvSpPr>
          <p:cNvPr id="10" name="Text 8"/>
          <p:cNvSpPr/>
          <p:nvPr/>
        </p:nvSpPr>
        <p:spPr>
          <a:xfrm>
            <a:off x="548640" y="4892040"/>
            <a:ext cx="11064240" cy="548640"/>
          </a:xfrm>
          <a:prstGeom prst="rect">
            <a:avLst/>
          </a:prstGeom>
          <a:noFill/>
          <a:ln/>
        </p:spPr>
        <p:txBody>
          <a:bodyPr wrap="square"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“Look at” means nothing to an AI. “Rewrite to highlight 3 benefits” is a task it can actually execute.</a:t>
            </a:r>
            <a:endParaRPr lang="en-US" sz="13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3 OF 5</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Format — The Shape of the Output</a:t>
            </a:r>
            <a:endParaRPr lang="en-US" sz="3200" dirty="0"/>
          </a:p>
        </p:txBody>
      </p:sp>
      <p:sp>
        <p:nvSpPr>
          <p:cNvPr id="4" name="Shape 2"/>
          <p:cNvSpPr/>
          <p:nvPr/>
        </p:nvSpPr>
        <p:spPr>
          <a:xfrm>
            <a:off x="548640" y="1554480"/>
            <a:ext cx="109728" cy="2926080"/>
          </a:xfrm>
          <a:prstGeom prst="rect">
            <a:avLst/>
          </a:prstGeom>
          <a:solidFill>
            <a:srgbClr val="F9A826"/>
          </a:solidFill>
          <a:ln/>
        </p:spPr>
      </p:sp>
      <p:sp>
        <p:nvSpPr>
          <p:cNvPr id="5" name="Text 3"/>
          <p:cNvSpPr/>
          <p:nvPr/>
        </p:nvSpPr>
        <p:spPr>
          <a:xfrm>
            <a:off x="914400" y="1600200"/>
            <a:ext cx="10058400" cy="1463040"/>
          </a:xfrm>
          <a:prstGeom prst="rect">
            <a:avLst/>
          </a:prstGeom>
          <a:noFill/>
          <a:ln/>
        </p:spPr>
        <p:txBody>
          <a:bodyPr wrap="square" rtlCol="0" anchor="t"/>
          <a:lstStyle/>
          <a:p>
            <a:pPr indent="0" marL="0">
              <a:buNone/>
            </a:pPr>
            <a:r>
              <a:rPr lang="en-US" sz="2200" i="1" dirty="0">
                <a:solidFill>
                  <a:srgbClr val="1E2761"/>
                </a:solidFill>
                <a:latin typeface="Cambria" pitchFamily="34" charset="0"/>
                <a:ea typeface="Cambria" pitchFamily="34" charset="-122"/>
                <a:cs typeface="Cambria" pitchFamily="34" charset="-120"/>
              </a:rPr>
              <a:t>Format is how you want the answer delivered — a list, a table, an email, a short paragraph, or something else entirely.</a:t>
            </a:r>
            <a:endParaRPr lang="en-US" sz="2200" dirty="0"/>
          </a:p>
        </p:txBody>
      </p:sp>
      <p:sp>
        <p:nvSpPr>
          <p:cNvPr id="6" name="Text 4"/>
          <p:cNvSpPr/>
          <p:nvPr/>
        </p:nvSpPr>
        <p:spPr>
          <a:xfrm>
            <a:off x="914400" y="3200400"/>
            <a:ext cx="5486400" cy="320040"/>
          </a:xfrm>
          <a:prstGeom prst="rect">
            <a:avLst/>
          </a:prstGeom>
          <a:noFill/>
          <a:ln/>
        </p:spPr>
        <p:txBody>
          <a:bodyPr wrap="square"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WHY IT MATTERS</a:t>
            </a:r>
            <a:endParaRPr lang="en-US" sz="1200" dirty="0"/>
          </a:p>
        </p:txBody>
      </p:sp>
      <p:sp>
        <p:nvSpPr>
          <p:cNvPr id="7" name="Text 5"/>
          <p:cNvSpPr/>
          <p:nvPr/>
        </p:nvSpPr>
        <p:spPr>
          <a:xfrm>
            <a:off x="914400" y="3520440"/>
            <a:ext cx="9784080" cy="914400"/>
          </a:xfrm>
          <a:prstGeom prst="rect">
            <a:avLst/>
          </a:prstGeom>
          <a:noFill/>
          <a:ln/>
        </p:spPr>
        <p:txBody>
          <a:bodyPr wrap="square" rtlCol="0" anchor="ctr"/>
          <a:lstStyle/>
          <a:p>
            <a:pPr indent="0" marL="0">
              <a:buNone/>
            </a:pPr>
            <a:r>
              <a:rPr lang="en-US" sz="1500" dirty="0">
                <a:solidFill>
                  <a:srgbClr val="3A3A3A"/>
                </a:solidFill>
                <a:latin typeface="Calibri" pitchFamily="34" charset="0"/>
                <a:ea typeface="Calibri" pitchFamily="34" charset="-122"/>
                <a:cs typeface="Calibri" pitchFamily="34" charset="-120"/>
              </a:rPr>
              <a:t>AI defaults to long paragraphs unless told otherwise. If you need a table for a report or bullet points for a slide, say so directly — don't reformat the output yourself afterward.</a:t>
            </a:r>
            <a:endParaRPr lang="en-US" sz="150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9"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3 — IN PRACTICE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Format Saves You the Clean-Up Work</a:t>
            </a:r>
            <a:endParaRPr lang="en-US" sz="2600" dirty="0"/>
          </a:p>
        </p:txBody>
      </p:sp>
      <p:sp>
        <p:nvSpPr>
          <p:cNvPr id="4" name="Shape 2"/>
          <p:cNvSpPr/>
          <p:nvPr/>
        </p:nvSpPr>
        <p:spPr>
          <a:xfrm>
            <a:off x="548640" y="1554480"/>
            <a:ext cx="11064240" cy="1280160"/>
          </a:xfrm>
          <a:prstGeom prst="rect">
            <a:avLst/>
          </a:prstGeom>
          <a:solidFill>
            <a:srgbClr val="FDEDEC"/>
          </a:solidFill>
          <a:ln w="12700">
            <a:solidFill>
              <a:srgbClr val="F1B0AC"/>
            </a:solidFill>
            <a:prstDash val="solid"/>
          </a:ln>
        </p:spPr>
      </p:sp>
      <p:sp>
        <p:nvSpPr>
          <p:cNvPr id="5" name="Text 3"/>
          <p:cNvSpPr/>
          <p:nvPr/>
        </p:nvSpPr>
        <p:spPr>
          <a:xfrm>
            <a:off x="822960" y="1673352"/>
            <a:ext cx="1828800"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WITHOUT</a:t>
            </a:r>
            <a:endParaRPr lang="en-US" sz="1100" dirty="0"/>
          </a:p>
        </p:txBody>
      </p:sp>
      <p:sp>
        <p:nvSpPr>
          <p:cNvPr id="6" name="Text 4"/>
          <p:cNvSpPr/>
          <p:nvPr/>
        </p:nvSpPr>
        <p:spPr>
          <a:xfrm>
            <a:off x="822960" y="1920240"/>
            <a:ext cx="10515600" cy="86868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“Give me some tips for better sleep.”</a:t>
            </a:r>
            <a:endParaRPr lang="en-US" sz="1500" dirty="0"/>
          </a:p>
        </p:txBody>
      </p:sp>
      <p:sp>
        <p:nvSpPr>
          <p:cNvPr id="7" name="Shape 5"/>
          <p:cNvSpPr/>
          <p:nvPr/>
        </p:nvSpPr>
        <p:spPr>
          <a:xfrm>
            <a:off x="548640" y="3017520"/>
            <a:ext cx="11064240" cy="1691640"/>
          </a:xfrm>
          <a:prstGeom prst="rect">
            <a:avLst/>
          </a:prstGeom>
          <a:solidFill>
            <a:srgbClr val="EAFBF1"/>
          </a:solidFill>
          <a:ln w="12700">
            <a:solidFill>
              <a:srgbClr val="A8E6C1"/>
            </a:solidFill>
            <a:prstDash val="solid"/>
          </a:ln>
        </p:spPr>
      </p:sp>
      <p:sp>
        <p:nvSpPr>
          <p:cNvPr id="8" name="Text 6"/>
          <p:cNvSpPr/>
          <p:nvPr/>
        </p:nvSpPr>
        <p:spPr>
          <a:xfrm>
            <a:off x="822960" y="3136392"/>
            <a:ext cx="1828800" cy="274320"/>
          </a:xfrm>
          <a:prstGeom prst="rect">
            <a:avLst/>
          </a:prstGeom>
          <a:noFill/>
          <a:ln/>
        </p:spPr>
        <p:txBody>
          <a:bodyPr wrap="square" rtlCol="0" anchor="ctr"/>
          <a:lstStyle/>
          <a:p>
            <a:pPr indent="0" marL="0">
              <a:buNone/>
            </a:pPr>
            <a:r>
              <a:rPr lang="en-US" sz="1100" b="1" dirty="0">
                <a:solidFill>
                  <a:srgbClr val="1E8449"/>
                </a:solidFill>
                <a:latin typeface="Calibri" pitchFamily="34" charset="0"/>
                <a:ea typeface="Calibri" pitchFamily="34" charset="-122"/>
                <a:cs typeface="Calibri" pitchFamily="34" charset="-120"/>
              </a:rPr>
              <a:t>WITH</a:t>
            </a:r>
            <a:endParaRPr lang="en-US" sz="1100" dirty="0"/>
          </a:p>
        </p:txBody>
      </p:sp>
      <p:sp>
        <p:nvSpPr>
          <p:cNvPr id="9" name="Text 7"/>
          <p:cNvSpPr/>
          <p:nvPr/>
        </p:nvSpPr>
        <p:spPr>
          <a:xfrm>
            <a:off x="822960" y="3383280"/>
            <a:ext cx="10515600" cy="123444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“Give me 5 tips for better sleep, formatted as a numbered list, each tip under 12 words.”</a:t>
            </a:r>
            <a:endParaRPr lang="en-US" sz="1500" dirty="0"/>
          </a:p>
        </p:txBody>
      </p:sp>
      <p:sp>
        <p:nvSpPr>
          <p:cNvPr id="10" name="Text 8"/>
          <p:cNvSpPr/>
          <p:nvPr/>
        </p:nvSpPr>
        <p:spPr>
          <a:xfrm>
            <a:off x="548640" y="4892040"/>
            <a:ext cx="11064240" cy="548640"/>
          </a:xfrm>
          <a:prstGeom prst="rect">
            <a:avLst/>
          </a:prstGeom>
          <a:noFill/>
          <a:ln/>
        </p:spPr>
        <p:txBody>
          <a:bodyPr wrap="square"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The second version is ready to paste directly into a slide or a client message — no editing required.</a:t>
            </a:r>
            <a:endParaRPr lang="en-US" sz="13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4 OF 5</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Tone — How It Should Sound</a:t>
            </a:r>
            <a:endParaRPr lang="en-US" sz="3200" dirty="0"/>
          </a:p>
        </p:txBody>
      </p:sp>
      <p:sp>
        <p:nvSpPr>
          <p:cNvPr id="4" name="Shape 2"/>
          <p:cNvSpPr/>
          <p:nvPr/>
        </p:nvSpPr>
        <p:spPr>
          <a:xfrm>
            <a:off x="548640" y="1554480"/>
            <a:ext cx="109728" cy="2926080"/>
          </a:xfrm>
          <a:prstGeom prst="rect">
            <a:avLst/>
          </a:prstGeom>
          <a:solidFill>
            <a:srgbClr val="F9A826"/>
          </a:solidFill>
          <a:ln/>
        </p:spPr>
      </p:sp>
      <p:sp>
        <p:nvSpPr>
          <p:cNvPr id="5" name="Text 3"/>
          <p:cNvSpPr/>
          <p:nvPr/>
        </p:nvSpPr>
        <p:spPr>
          <a:xfrm>
            <a:off x="914400" y="1600200"/>
            <a:ext cx="10058400" cy="1463040"/>
          </a:xfrm>
          <a:prstGeom prst="rect">
            <a:avLst/>
          </a:prstGeom>
          <a:noFill/>
          <a:ln/>
        </p:spPr>
        <p:txBody>
          <a:bodyPr wrap="square" rtlCol="0" anchor="t"/>
          <a:lstStyle/>
          <a:p>
            <a:pPr indent="0" marL="0">
              <a:buNone/>
            </a:pPr>
            <a:r>
              <a:rPr lang="en-US" sz="2200" i="1" dirty="0">
                <a:solidFill>
                  <a:srgbClr val="1E2761"/>
                </a:solidFill>
                <a:latin typeface="Cambria" pitchFamily="34" charset="0"/>
                <a:ea typeface="Cambria" pitchFamily="34" charset="-122"/>
                <a:cs typeface="Cambria" pitchFamily="34" charset="-120"/>
              </a:rPr>
              <a:t>Tone is the personality of the writing — formal, casual, confident, warm, urgent, playful.</a:t>
            </a:r>
            <a:endParaRPr lang="en-US" sz="2200" dirty="0"/>
          </a:p>
        </p:txBody>
      </p:sp>
      <p:sp>
        <p:nvSpPr>
          <p:cNvPr id="6" name="Text 4"/>
          <p:cNvSpPr/>
          <p:nvPr/>
        </p:nvSpPr>
        <p:spPr>
          <a:xfrm>
            <a:off x="914400" y="3200400"/>
            <a:ext cx="5486400" cy="320040"/>
          </a:xfrm>
          <a:prstGeom prst="rect">
            <a:avLst/>
          </a:prstGeom>
          <a:noFill/>
          <a:ln/>
        </p:spPr>
        <p:txBody>
          <a:bodyPr wrap="square"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WHY IT MATTERS</a:t>
            </a:r>
            <a:endParaRPr lang="en-US" sz="1200" dirty="0"/>
          </a:p>
        </p:txBody>
      </p:sp>
      <p:sp>
        <p:nvSpPr>
          <p:cNvPr id="7" name="Text 5"/>
          <p:cNvSpPr/>
          <p:nvPr/>
        </p:nvSpPr>
        <p:spPr>
          <a:xfrm>
            <a:off x="914400" y="3520440"/>
            <a:ext cx="9784080" cy="914400"/>
          </a:xfrm>
          <a:prstGeom prst="rect">
            <a:avLst/>
          </a:prstGeom>
          <a:noFill/>
          <a:ln/>
        </p:spPr>
        <p:txBody>
          <a:bodyPr wrap="square" rtlCol="0" anchor="ctr"/>
          <a:lstStyle/>
          <a:p>
            <a:pPr indent="0" marL="0">
              <a:buNone/>
            </a:pPr>
            <a:r>
              <a:rPr lang="en-US" sz="1500" dirty="0">
                <a:solidFill>
                  <a:srgbClr val="3A3A3A"/>
                </a:solidFill>
                <a:latin typeface="Calibri" pitchFamily="34" charset="0"/>
                <a:ea typeface="Calibri" pitchFamily="34" charset="-122"/>
                <a:cs typeface="Calibri" pitchFamily="34" charset="-120"/>
              </a:rPr>
              <a:t>The same message written formally versus casually can land completely differently with the same audience. Specifying tone means you don't have to manually rewrite the AI's output to match your voice.</a:t>
            </a:r>
            <a:endParaRPr lang="en-US" sz="150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9"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4 — IN PRACTICE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Tone Sets the Relationship</a:t>
            </a:r>
            <a:endParaRPr lang="en-US" sz="2600" dirty="0"/>
          </a:p>
        </p:txBody>
      </p:sp>
      <p:sp>
        <p:nvSpPr>
          <p:cNvPr id="4" name="Shape 2"/>
          <p:cNvSpPr/>
          <p:nvPr/>
        </p:nvSpPr>
        <p:spPr>
          <a:xfrm>
            <a:off x="548640" y="1554480"/>
            <a:ext cx="11064240" cy="1280160"/>
          </a:xfrm>
          <a:prstGeom prst="rect">
            <a:avLst/>
          </a:prstGeom>
          <a:solidFill>
            <a:srgbClr val="FDEDEC"/>
          </a:solidFill>
          <a:ln w="12700">
            <a:solidFill>
              <a:srgbClr val="F1B0AC"/>
            </a:solidFill>
            <a:prstDash val="solid"/>
          </a:ln>
        </p:spPr>
      </p:sp>
      <p:sp>
        <p:nvSpPr>
          <p:cNvPr id="5" name="Text 3"/>
          <p:cNvSpPr/>
          <p:nvPr/>
        </p:nvSpPr>
        <p:spPr>
          <a:xfrm>
            <a:off x="822960" y="1673352"/>
            <a:ext cx="1828800"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WITHOUT</a:t>
            </a:r>
            <a:endParaRPr lang="en-US" sz="1100" dirty="0"/>
          </a:p>
        </p:txBody>
      </p:sp>
      <p:sp>
        <p:nvSpPr>
          <p:cNvPr id="6" name="Text 4"/>
          <p:cNvSpPr/>
          <p:nvPr/>
        </p:nvSpPr>
        <p:spPr>
          <a:xfrm>
            <a:off x="822960" y="1920240"/>
            <a:ext cx="10515600" cy="86868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“Write a message telling my team about a schedule change.”</a:t>
            </a:r>
            <a:endParaRPr lang="en-US" sz="1500" dirty="0"/>
          </a:p>
        </p:txBody>
      </p:sp>
      <p:sp>
        <p:nvSpPr>
          <p:cNvPr id="7" name="Shape 5"/>
          <p:cNvSpPr/>
          <p:nvPr/>
        </p:nvSpPr>
        <p:spPr>
          <a:xfrm>
            <a:off x="548640" y="3017520"/>
            <a:ext cx="11064240" cy="1691640"/>
          </a:xfrm>
          <a:prstGeom prst="rect">
            <a:avLst/>
          </a:prstGeom>
          <a:solidFill>
            <a:srgbClr val="EAFBF1"/>
          </a:solidFill>
          <a:ln w="12700">
            <a:solidFill>
              <a:srgbClr val="A8E6C1"/>
            </a:solidFill>
            <a:prstDash val="solid"/>
          </a:ln>
        </p:spPr>
      </p:sp>
      <p:sp>
        <p:nvSpPr>
          <p:cNvPr id="8" name="Text 6"/>
          <p:cNvSpPr/>
          <p:nvPr/>
        </p:nvSpPr>
        <p:spPr>
          <a:xfrm>
            <a:off x="822960" y="3136392"/>
            <a:ext cx="1828800" cy="274320"/>
          </a:xfrm>
          <a:prstGeom prst="rect">
            <a:avLst/>
          </a:prstGeom>
          <a:noFill/>
          <a:ln/>
        </p:spPr>
        <p:txBody>
          <a:bodyPr wrap="square" rtlCol="0" anchor="ctr"/>
          <a:lstStyle/>
          <a:p>
            <a:pPr indent="0" marL="0">
              <a:buNone/>
            </a:pPr>
            <a:r>
              <a:rPr lang="en-US" sz="1100" b="1" dirty="0">
                <a:solidFill>
                  <a:srgbClr val="1E8449"/>
                </a:solidFill>
                <a:latin typeface="Calibri" pitchFamily="34" charset="0"/>
                <a:ea typeface="Calibri" pitchFamily="34" charset="-122"/>
                <a:cs typeface="Calibri" pitchFamily="34" charset="-120"/>
              </a:rPr>
              <a:t>WITH</a:t>
            </a:r>
            <a:endParaRPr lang="en-US" sz="1100" dirty="0"/>
          </a:p>
        </p:txBody>
      </p:sp>
      <p:sp>
        <p:nvSpPr>
          <p:cNvPr id="9" name="Text 7"/>
          <p:cNvSpPr/>
          <p:nvPr/>
        </p:nvSpPr>
        <p:spPr>
          <a:xfrm>
            <a:off x="822960" y="3383280"/>
            <a:ext cx="10515600" cy="123444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“Write a message telling my team about a schedule change. Tone: warm and reassuring, not corporate or stiff — like a supportive team lead, not an HR memo.”</a:t>
            </a:r>
            <a:endParaRPr lang="en-US" sz="1500" dirty="0"/>
          </a:p>
        </p:txBody>
      </p:sp>
      <p:sp>
        <p:nvSpPr>
          <p:cNvPr id="10" name="Text 8"/>
          <p:cNvSpPr/>
          <p:nvPr/>
        </p:nvSpPr>
        <p:spPr>
          <a:xfrm>
            <a:off x="548640" y="4892040"/>
            <a:ext cx="11064240" cy="548640"/>
          </a:xfrm>
          <a:prstGeom prst="rect">
            <a:avLst/>
          </a:prstGeom>
          <a:noFill/>
          <a:ln/>
        </p:spPr>
        <p:txBody>
          <a:bodyPr wrap="square"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Without a tone instruction, AI usually defaults to formal — often the opposite of what a team message needs.</a:t>
            </a:r>
            <a:endParaRPr lang="en-US" sz="13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5 OF 5</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Constraints — Limits &amp; Rules</a:t>
            </a:r>
            <a:endParaRPr lang="en-US" sz="3200" dirty="0"/>
          </a:p>
        </p:txBody>
      </p:sp>
      <p:sp>
        <p:nvSpPr>
          <p:cNvPr id="4" name="Shape 2"/>
          <p:cNvSpPr/>
          <p:nvPr/>
        </p:nvSpPr>
        <p:spPr>
          <a:xfrm>
            <a:off x="548640" y="1554480"/>
            <a:ext cx="109728" cy="2926080"/>
          </a:xfrm>
          <a:prstGeom prst="rect">
            <a:avLst/>
          </a:prstGeom>
          <a:solidFill>
            <a:srgbClr val="F9A826"/>
          </a:solidFill>
          <a:ln/>
        </p:spPr>
      </p:sp>
      <p:sp>
        <p:nvSpPr>
          <p:cNvPr id="5" name="Text 3"/>
          <p:cNvSpPr/>
          <p:nvPr/>
        </p:nvSpPr>
        <p:spPr>
          <a:xfrm>
            <a:off x="914400" y="1600200"/>
            <a:ext cx="10058400" cy="1463040"/>
          </a:xfrm>
          <a:prstGeom prst="rect">
            <a:avLst/>
          </a:prstGeom>
          <a:noFill/>
          <a:ln/>
        </p:spPr>
        <p:txBody>
          <a:bodyPr wrap="square" rtlCol="0" anchor="t"/>
          <a:lstStyle/>
          <a:p>
            <a:pPr indent="0" marL="0">
              <a:buNone/>
            </a:pPr>
            <a:r>
              <a:rPr lang="en-US" sz="2200" i="1" dirty="0">
                <a:solidFill>
                  <a:srgbClr val="1E2761"/>
                </a:solidFill>
                <a:latin typeface="Cambria" pitchFamily="34" charset="0"/>
                <a:ea typeface="Cambria" pitchFamily="34" charset="-122"/>
                <a:cs typeface="Cambria" pitchFamily="34" charset="-120"/>
              </a:rPr>
              <a:t>Constraints are the boundaries on the output — word count, language, things to avoid, or rules the response must follow.</a:t>
            </a:r>
            <a:endParaRPr lang="en-US" sz="2200" dirty="0"/>
          </a:p>
        </p:txBody>
      </p:sp>
      <p:sp>
        <p:nvSpPr>
          <p:cNvPr id="6" name="Text 4"/>
          <p:cNvSpPr/>
          <p:nvPr/>
        </p:nvSpPr>
        <p:spPr>
          <a:xfrm>
            <a:off x="914400" y="3200400"/>
            <a:ext cx="5486400" cy="320040"/>
          </a:xfrm>
          <a:prstGeom prst="rect">
            <a:avLst/>
          </a:prstGeom>
          <a:noFill/>
          <a:ln/>
        </p:spPr>
        <p:txBody>
          <a:bodyPr wrap="square" rtlCol="0" anchor="ctr"/>
          <a:lstStyle/>
          <a:p>
            <a:pPr indent="0" marL="0">
              <a:buNone/>
            </a:pPr>
            <a:r>
              <a:rPr lang="en-US" sz="1200" b="1" spc="200" kern="0" dirty="0">
                <a:solidFill>
                  <a:srgbClr val="6B7280"/>
                </a:solidFill>
                <a:latin typeface="Calibri" pitchFamily="34" charset="0"/>
                <a:ea typeface="Calibri" pitchFamily="34" charset="-122"/>
                <a:cs typeface="Calibri" pitchFamily="34" charset="-120"/>
              </a:rPr>
              <a:t>WHY IT MATTERS</a:t>
            </a:r>
            <a:endParaRPr lang="en-US" sz="1200" dirty="0"/>
          </a:p>
        </p:txBody>
      </p:sp>
      <p:sp>
        <p:nvSpPr>
          <p:cNvPr id="7" name="Text 5"/>
          <p:cNvSpPr/>
          <p:nvPr/>
        </p:nvSpPr>
        <p:spPr>
          <a:xfrm>
            <a:off x="914400" y="3520440"/>
            <a:ext cx="9784080" cy="914400"/>
          </a:xfrm>
          <a:prstGeom prst="rect">
            <a:avLst/>
          </a:prstGeom>
          <a:noFill/>
          <a:ln/>
        </p:spPr>
        <p:txBody>
          <a:bodyPr wrap="square" rtlCol="0" anchor="ctr"/>
          <a:lstStyle/>
          <a:p>
            <a:pPr indent="0" marL="0">
              <a:buNone/>
            </a:pPr>
            <a:r>
              <a:rPr lang="en-US" sz="1500" dirty="0">
                <a:solidFill>
                  <a:srgbClr val="3A3A3A"/>
                </a:solidFill>
                <a:latin typeface="Calibri" pitchFamily="34" charset="0"/>
                <a:ea typeface="Calibri" pitchFamily="34" charset="-122"/>
                <a:cs typeface="Calibri" pitchFamily="34" charset="-120"/>
              </a:rPr>
              <a:t>Constraints are what make an output usable without edits: a caption under a character limit, an email under 100 words, a summary that avoids technical jargon entirely.</a:t>
            </a:r>
            <a:endParaRPr lang="en-US" sz="1500" dirty="0"/>
          </a:p>
        </p:txBody>
      </p:sp>
      <p:sp>
        <p:nvSpPr>
          <p:cNvPr id="8" name="Text 6"/>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9" name="Text 7"/>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ELEMENT 5 — IN PRACTICE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Constraints Make It Ready-to-Use</a:t>
            </a:r>
            <a:endParaRPr lang="en-US" sz="2600" dirty="0"/>
          </a:p>
        </p:txBody>
      </p:sp>
      <p:sp>
        <p:nvSpPr>
          <p:cNvPr id="4" name="Shape 2"/>
          <p:cNvSpPr/>
          <p:nvPr/>
        </p:nvSpPr>
        <p:spPr>
          <a:xfrm>
            <a:off x="548640" y="1554480"/>
            <a:ext cx="11064240" cy="1280160"/>
          </a:xfrm>
          <a:prstGeom prst="rect">
            <a:avLst/>
          </a:prstGeom>
          <a:solidFill>
            <a:srgbClr val="FDEDEC"/>
          </a:solidFill>
          <a:ln w="12700">
            <a:solidFill>
              <a:srgbClr val="F1B0AC"/>
            </a:solidFill>
            <a:prstDash val="solid"/>
          </a:ln>
        </p:spPr>
      </p:sp>
      <p:sp>
        <p:nvSpPr>
          <p:cNvPr id="5" name="Text 3"/>
          <p:cNvSpPr/>
          <p:nvPr/>
        </p:nvSpPr>
        <p:spPr>
          <a:xfrm>
            <a:off x="822960" y="1673352"/>
            <a:ext cx="1828800" cy="274320"/>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WITHOUT</a:t>
            </a:r>
            <a:endParaRPr lang="en-US" sz="1100" dirty="0"/>
          </a:p>
        </p:txBody>
      </p:sp>
      <p:sp>
        <p:nvSpPr>
          <p:cNvPr id="6" name="Text 4"/>
          <p:cNvSpPr/>
          <p:nvPr/>
        </p:nvSpPr>
        <p:spPr>
          <a:xfrm>
            <a:off x="822960" y="1920240"/>
            <a:ext cx="10515600" cy="86868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“Write an Instagram caption for my bakery.”</a:t>
            </a:r>
            <a:endParaRPr lang="en-US" sz="1500" dirty="0"/>
          </a:p>
        </p:txBody>
      </p:sp>
      <p:sp>
        <p:nvSpPr>
          <p:cNvPr id="7" name="Shape 5"/>
          <p:cNvSpPr/>
          <p:nvPr/>
        </p:nvSpPr>
        <p:spPr>
          <a:xfrm>
            <a:off x="548640" y="3017520"/>
            <a:ext cx="11064240" cy="1691640"/>
          </a:xfrm>
          <a:prstGeom prst="rect">
            <a:avLst/>
          </a:prstGeom>
          <a:solidFill>
            <a:srgbClr val="EAFBF1"/>
          </a:solidFill>
          <a:ln w="12700">
            <a:solidFill>
              <a:srgbClr val="A8E6C1"/>
            </a:solidFill>
            <a:prstDash val="solid"/>
          </a:ln>
        </p:spPr>
      </p:sp>
      <p:sp>
        <p:nvSpPr>
          <p:cNvPr id="8" name="Text 6"/>
          <p:cNvSpPr/>
          <p:nvPr/>
        </p:nvSpPr>
        <p:spPr>
          <a:xfrm>
            <a:off x="822960" y="3136392"/>
            <a:ext cx="1828800" cy="274320"/>
          </a:xfrm>
          <a:prstGeom prst="rect">
            <a:avLst/>
          </a:prstGeom>
          <a:noFill/>
          <a:ln/>
        </p:spPr>
        <p:txBody>
          <a:bodyPr wrap="square" rtlCol="0" anchor="ctr"/>
          <a:lstStyle/>
          <a:p>
            <a:pPr indent="0" marL="0">
              <a:buNone/>
            </a:pPr>
            <a:r>
              <a:rPr lang="en-US" sz="1100" b="1" dirty="0">
                <a:solidFill>
                  <a:srgbClr val="1E8449"/>
                </a:solidFill>
                <a:latin typeface="Calibri" pitchFamily="34" charset="0"/>
                <a:ea typeface="Calibri" pitchFamily="34" charset="-122"/>
                <a:cs typeface="Calibri" pitchFamily="34" charset="-120"/>
              </a:rPr>
              <a:t>WITH</a:t>
            </a:r>
            <a:endParaRPr lang="en-US" sz="1100" dirty="0"/>
          </a:p>
        </p:txBody>
      </p:sp>
      <p:sp>
        <p:nvSpPr>
          <p:cNvPr id="9" name="Text 7"/>
          <p:cNvSpPr/>
          <p:nvPr/>
        </p:nvSpPr>
        <p:spPr>
          <a:xfrm>
            <a:off x="822960" y="3383280"/>
            <a:ext cx="10515600" cy="123444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“Write an Instagram caption for my bakery, under 150 characters, no more than 2 emojis, and don't use the word ‘delicious.’”</a:t>
            </a:r>
            <a:endParaRPr lang="en-US" sz="1500" dirty="0"/>
          </a:p>
        </p:txBody>
      </p:sp>
      <p:sp>
        <p:nvSpPr>
          <p:cNvPr id="10" name="Text 8"/>
          <p:cNvSpPr/>
          <p:nvPr/>
        </p:nvSpPr>
        <p:spPr>
          <a:xfrm>
            <a:off x="548640" y="4892040"/>
            <a:ext cx="11064240" cy="548640"/>
          </a:xfrm>
          <a:prstGeom prst="rect">
            <a:avLst/>
          </a:prstGeom>
          <a:noFill/>
          <a:ln/>
        </p:spPr>
        <p:txBody>
          <a:bodyPr wrap="square" rtlCol="0" anchor="ctr"/>
          <a:lstStyle/>
          <a:p>
            <a:pPr indent="0" marL="0">
              <a:buNone/>
            </a:pPr>
            <a:r>
              <a:rPr lang="en-US" sz="1300" b="1" dirty="0">
                <a:solidFill>
                  <a:srgbClr val="6B7280"/>
                </a:solidFill>
                <a:latin typeface="Calibri" pitchFamily="34" charset="0"/>
                <a:ea typeface="Calibri" pitchFamily="34" charset="-122"/>
                <a:cs typeface="Calibri" pitchFamily="34" charset="-120"/>
              </a:rPr>
              <a:t>Constraints prevent the most common AI habits — overused words, excess length, off-brand phrasing.</a:t>
            </a:r>
            <a:endParaRPr lang="en-US" sz="13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16</a:t>
            </a:r>
            <a:endParaRPr lang="en-US" sz="10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PUTTING IT TOGETHER</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indent="0" marL="0">
              <a:buNone/>
            </a:pPr>
            <a:r>
              <a:rPr lang="en-US" sz="3000" b="1" dirty="0">
                <a:solidFill>
                  <a:srgbClr val="FFFFFF"/>
                </a:solidFill>
                <a:latin typeface="Cambria" pitchFamily="34" charset="0"/>
                <a:ea typeface="Cambria" pitchFamily="34" charset="-122"/>
                <a:cs typeface="Cambria" pitchFamily="34" charset="-120"/>
              </a:rPr>
              <a:t>A Strong Prompt Uses All 5 at Once</a:t>
            </a:r>
            <a:endParaRPr lang="en-US" sz="3000" dirty="0"/>
          </a:p>
        </p:txBody>
      </p:sp>
      <p:sp>
        <p:nvSpPr>
          <p:cNvPr id="4" name="Shape 2"/>
          <p:cNvSpPr/>
          <p:nvPr/>
        </p:nvSpPr>
        <p:spPr>
          <a:xfrm>
            <a:off x="548640" y="1508760"/>
            <a:ext cx="1554480" cy="777240"/>
          </a:xfrm>
          <a:prstGeom prst="rect">
            <a:avLst/>
          </a:prstGeom>
          <a:solidFill>
            <a:srgbClr val="F9A826"/>
          </a:solidFill>
          <a:ln/>
        </p:spPr>
      </p:sp>
      <p:sp>
        <p:nvSpPr>
          <p:cNvPr id="5" name="Text 3"/>
          <p:cNvSpPr/>
          <p:nvPr/>
        </p:nvSpPr>
        <p:spPr>
          <a:xfrm>
            <a:off x="548640" y="1508760"/>
            <a:ext cx="1554480" cy="777240"/>
          </a:xfrm>
          <a:prstGeom prst="rect">
            <a:avLst/>
          </a:prstGeom>
          <a:noFill/>
          <a:ln/>
        </p:spPr>
        <p:txBody>
          <a:bodyPr wrap="square"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Context</a:t>
            </a:r>
            <a:endParaRPr lang="en-US" sz="1400" dirty="0"/>
          </a:p>
        </p:txBody>
      </p:sp>
      <p:sp>
        <p:nvSpPr>
          <p:cNvPr id="6" name="Text 4"/>
          <p:cNvSpPr/>
          <p:nvPr/>
        </p:nvSpPr>
        <p:spPr>
          <a:xfrm>
            <a:off x="2286000" y="1508760"/>
            <a:ext cx="9326880" cy="777240"/>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“I run a small clothing store...”</a:t>
            </a:r>
            <a:endParaRPr lang="en-US" sz="1500" dirty="0"/>
          </a:p>
        </p:txBody>
      </p:sp>
      <p:sp>
        <p:nvSpPr>
          <p:cNvPr id="7" name="Shape 5"/>
          <p:cNvSpPr/>
          <p:nvPr/>
        </p:nvSpPr>
        <p:spPr>
          <a:xfrm>
            <a:off x="548640" y="2423160"/>
            <a:ext cx="1554480" cy="777240"/>
          </a:xfrm>
          <a:prstGeom prst="rect">
            <a:avLst/>
          </a:prstGeom>
          <a:solidFill>
            <a:srgbClr val="F9A826"/>
          </a:solidFill>
          <a:ln/>
        </p:spPr>
      </p:sp>
      <p:sp>
        <p:nvSpPr>
          <p:cNvPr id="8" name="Text 6"/>
          <p:cNvSpPr/>
          <p:nvPr/>
        </p:nvSpPr>
        <p:spPr>
          <a:xfrm>
            <a:off x="548640" y="2423160"/>
            <a:ext cx="1554480" cy="777240"/>
          </a:xfrm>
          <a:prstGeom prst="rect">
            <a:avLst/>
          </a:prstGeom>
          <a:noFill/>
          <a:ln/>
        </p:spPr>
        <p:txBody>
          <a:bodyPr wrap="square"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Task</a:t>
            </a:r>
            <a:endParaRPr lang="en-US" sz="1400" dirty="0"/>
          </a:p>
        </p:txBody>
      </p:sp>
      <p:sp>
        <p:nvSpPr>
          <p:cNvPr id="9" name="Text 7"/>
          <p:cNvSpPr/>
          <p:nvPr/>
        </p:nvSpPr>
        <p:spPr>
          <a:xfrm>
            <a:off x="2286000" y="2423160"/>
            <a:ext cx="9326880" cy="777240"/>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“...write a re-engagement email...”</a:t>
            </a:r>
            <a:endParaRPr lang="en-US" sz="1500" dirty="0"/>
          </a:p>
        </p:txBody>
      </p:sp>
      <p:sp>
        <p:nvSpPr>
          <p:cNvPr id="10" name="Shape 8"/>
          <p:cNvSpPr/>
          <p:nvPr/>
        </p:nvSpPr>
        <p:spPr>
          <a:xfrm>
            <a:off x="548640" y="3337560"/>
            <a:ext cx="1554480" cy="777240"/>
          </a:xfrm>
          <a:prstGeom prst="rect">
            <a:avLst/>
          </a:prstGeom>
          <a:solidFill>
            <a:srgbClr val="F9A826"/>
          </a:solidFill>
          <a:ln/>
        </p:spPr>
      </p:sp>
      <p:sp>
        <p:nvSpPr>
          <p:cNvPr id="11" name="Text 9"/>
          <p:cNvSpPr/>
          <p:nvPr/>
        </p:nvSpPr>
        <p:spPr>
          <a:xfrm>
            <a:off x="548640" y="3337560"/>
            <a:ext cx="1554480" cy="777240"/>
          </a:xfrm>
          <a:prstGeom prst="rect">
            <a:avLst/>
          </a:prstGeom>
          <a:noFill/>
          <a:ln/>
        </p:spPr>
        <p:txBody>
          <a:bodyPr wrap="square"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Format</a:t>
            </a:r>
            <a:endParaRPr lang="en-US" sz="1400" dirty="0"/>
          </a:p>
        </p:txBody>
      </p:sp>
      <p:sp>
        <p:nvSpPr>
          <p:cNvPr id="12" name="Text 10"/>
          <p:cNvSpPr/>
          <p:nvPr/>
        </p:nvSpPr>
        <p:spPr>
          <a:xfrm>
            <a:off x="2286000" y="3337560"/>
            <a:ext cx="9326880" cy="777240"/>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“...under 100 words, with a clear subject line...”</a:t>
            </a:r>
            <a:endParaRPr lang="en-US" sz="1500" dirty="0"/>
          </a:p>
        </p:txBody>
      </p:sp>
      <p:sp>
        <p:nvSpPr>
          <p:cNvPr id="13" name="Shape 11"/>
          <p:cNvSpPr/>
          <p:nvPr/>
        </p:nvSpPr>
        <p:spPr>
          <a:xfrm>
            <a:off x="548640" y="4251960"/>
            <a:ext cx="1554480" cy="777240"/>
          </a:xfrm>
          <a:prstGeom prst="rect">
            <a:avLst/>
          </a:prstGeom>
          <a:solidFill>
            <a:srgbClr val="F9A826"/>
          </a:solidFill>
          <a:ln/>
        </p:spPr>
      </p:sp>
      <p:sp>
        <p:nvSpPr>
          <p:cNvPr id="14" name="Text 12"/>
          <p:cNvSpPr/>
          <p:nvPr/>
        </p:nvSpPr>
        <p:spPr>
          <a:xfrm>
            <a:off x="548640" y="4251960"/>
            <a:ext cx="1554480" cy="777240"/>
          </a:xfrm>
          <a:prstGeom prst="rect">
            <a:avLst/>
          </a:prstGeom>
          <a:noFill/>
          <a:ln/>
        </p:spPr>
        <p:txBody>
          <a:bodyPr wrap="square"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Tone</a:t>
            </a:r>
            <a:endParaRPr lang="en-US" sz="1400" dirty="0"/>
          </a:p>
        </p:txBody>
      </p:sp>
      <p:sp>
        <p:nvSpPr>
          <p:cNvPr id="15" name="Text 13"/>
          <p:cNvSpPr/>
          <p:nvPr/>
        </p:nvSpPr>
        <p:spPr>
          <a:xfrm>
            <a:off x="2286000" y="4251960"/>
            <a:ext cx="9326880" cy="777240"/>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“...friendly, not salesy...”</a:t>
            </a:r>
            <a:endParaRPr lang="en-US" sz="1500" dirty="0"/>
          </a:p>
        </p:txBody>
      </p:sp>
      <p:sp>
        <p:nvSpPr>
          <p:cNvPr id="16" name="Shape 14"/>
          <p:cNvSpPr/>
          <p:nvPr/>
        </p:nvSpPr>
        <p:spPr>
          <a:xfrm>
            <a:off x="548640" y="5166360"/>
            <a:ext cx="1554480" cy="777240"/>
          </a:xfrm>
          <a:prstGeom prst="rect">
            <a:avLst/>
          </a:prstGeom>
          <a:solidFill>
            <a:srgbClr val="F9A826"/>
          </a:solidFill>
          <a:ln/>
        </p:spPr>
      </p:sp>
      <p:sp>
        <p:nvSpPr>
          <p:cNvPr id="17" name="Text 15"/>
          <p:cNvSpPr/>
          <p:nvPr/>
        </p:nvSpPr>
        <p:spPr>
          <a:xfrm>
            <a:off x="548640" y="5166360"/>
            <a:ext cx="1554480" cy="777240"/>
          </a:xfrm>
          <a:prstGeom prst="rect">
            <a:avLst/>
          </a:prstGeom>
          <a:noFill/>
          <a:ln/>
        </p:spPr>
        <p:txBody>
          <a:bodyPr wrap="square" rtlCol="0" anchor="ctr"/>
          <a:lstStyle/>
          <a:p>
            <a:pPr algn="ctr" indent="0" marL="0">
              <a:buNone/>
            </a:pPr>
            <a:r>
              <a:rPr lang="en-US" sz="1400" b="1" dirty="0">
                <a:solidFill>
                  <a:srgbClr val="1E2761"/>
                </a:solidFill>
                <a:latin typeface="Cambria" pitchFamily="34" charset="0"/>
                <a:ea typeface="Cambria" pitchFamily="34" charset="-122"/>
                <a:cs typeface="Cambria" pitchFamily="34" charset="-120"/>
              </a:rPr>
              <a:t>Constraints</a:t>
            </a:r>
            <a:endParaRPr lang="en-US" sz="1400" dirty="0"/>
          </a:p>
        </p:txBody>
      </p:sp>
      <p:sp>
        <p:nvSpPr>
          <p:cNvPr id="18" name="Text 16"/>
          <p:cNvSpPr/>
          <p:nvPr/>
        </p:nvSpPr>
        <p:spPr>
          <a:xfrm>
            <a:off x="2286000" y="5166360"/>
            <a:ext cx="9326880" cy="777240"/>
          </a:xfrm>
          <a:prstGeom prst="rect">
            <a:avLst/>
          </a:prstGeom>
          <a:noFill/>
          <a:ln/>
        </p:spPr>
        <p:txBody>
          <a:bodyPr wrap="square" rtlCol="0" anchor="ctr"/>
          <a:lstStyle/>
          <a:p>
            <a:pPr indent="0" marL="0">
              <a:buNone/>
            </a:pPr>
            <a:r>
              <a:rPr lang="en-US" sz="1500" i="1" dirty="0">
                <a:solidFill>
                  <a:srgbClr val="FFFFFF"/>
                </a:solidFill>
                <a:latin typeface="Calibri" pitchFamily="34" charset="0"/>
                <a:ea typeface="Calibri" pitchFamily="34" charset="-122"/>
                <a:cs typeface="Calibri" pitchFamily="34" charset="-120"/>
              </a:rPr>
              <a:t>“...and include one limited-time discount code.”</a:t>
            </a:r>
            <a:endParaRPr lang="en-US" sz="1500" dirty="0"/>
          </a:p>
        </p:txBody>
      </p:sp>
      <p:sp>
        <p:nvSpPr>
          <p:cNvPr id="19" name="Text 17"/>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20" name="Text 18"/>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17</a:t>
            </a:r>
            <a:endParaRPr lang="en-US" sz="10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FULL WORKED EXAMPLE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1 — Business Email</a:t>
            </a:r>
            <a:endParaRPr lang="en-US" sz="2600" dirty="0"/>
          </a:p>
        </p:txBody>
      </p:sp>
      <p:sp>
        <p:nvSpPr>
          <p:cNvPr id="4" name="Text 2"/>
          <p:cNvSpPr/>
          <p:nvPr/>
        </p:nvSpPr>
        <p:spPr>
          <a:xfrm>
            <a:off x="548640" y="1371600"/>
            <a:ext cx="10698480" cy="41148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 freelancer needs to tell a client about a short delay without losing their confidence.</a:t>
            </a:r>
            <a:endParaRPr lang="en-US" sz="1300" dirty="0"/>
          </a:p>
        </p:txBody>
      </p:sp>
      <p:sp>
        <p:nvSpPr>
          <p:cNvPr id="5" name="Shape 3"/>
          <p:cNvSpPr/>
          <p:nvPr/>
        </p:nvSpPr>
        <p:spPr>
          <a:xfrm>
            <a:off x="548640" y="1783080"/>
            <a:ext cx="11064240" cy="1371600"/>
          </a:xfrm>
          <a:prstGeom prst="rect">
            <a:avLst/>
          </a:prstGeom>
          <a:solidFill>
            <a:srgbClr val="F7F8FC"/>
          </a:solidFill>
          <a:ln w="12700">
            <a:solidFill>
              <a:srgbClr val="E2E5F1"/>
            </a:solidFill>
            <a:prstDash val="solid"/>
          </a:ln>
        </p:spPr>
      </p:sp>
      <p:sp>
        <p:nvSpPr>
          <p:cNvPr id="6" name="Text 4"/>
          <p:cNvSpPr/>
          <p:nvPr/>
        </p:nvSpPr>
        <p:spPr>
          <a:xfrm>
            <a:off x="822960" y="1901952"/>
            <a:ext cx="3657600" cy="256032"/>
          </a:xfrm>
          <a:prstGeom prst="rect">
            <a:avLst/>
          </a:prstGeom>
          <a:noFill/>
          <a:ln/>
        </p:spPr>
        <p:txBody>
          <a:bodyPr wrap="square"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THE PROMPT</a:t>
            </a:r>
            <a:endParaRPr lang="en-US" sz="1100" dirty="0"/>
          </a:p>
        </p:txBody>
      </p:sp>
      <p:sp>
        <p:nvSpPr>
          <p:cNvPr id="7" name="Text 5"/>
          <p:cNvSpPr/>
          <p:nvPr/>
        </p:nvSpPr>
        <p:spPr>
          <a:xfrm>
            <a:off x="822960" y="2176272"/>
            <a:ext cx="10424160" cy="914400"/>
          </a:xfrm>
          <a:prstGeom prst="rect">
            <a:avLst/>
          </a:prstGeom>
          <a:noFill/>
          <a:ln/>
        </p:spPr>
        <p:txBody>
          <a:bodyPr wrap="square" rtlCol="0" anchor="ctr"/>
          <a:lstStyle/>
          <a:p>
            <a:pPr indent="0" marL="0">
              <a:buNone/>
            </a:pPr>
            <a:r>
              <a:rPr lang="en-US" sz="1400" i="1" dirty="0">
                <a:solidFill>
                  <a:srgbClr val="1E2761"/>
                </a:solidFill>
                <a:latin typeface="Cambria" pitchFamily="34" charset="0"/>
                <a:ea typeface="Cambria" pitchFamily="34" charset="-122"/>
                <a:cs typeface="Cambria" pitchFamily="34" charset="-120"/>
              </a:rPr>
              <a:t>“I'm a freelance designer. Write a 90-word email to my client explaining the project will be 2 days late because I'm refining the details. Tone: confident, professional. End with a quality assurance line.”</a:t>
            </a:r>
            <a:endParaRPr lang="en-US" sz="1400" dirty="0"/>
          </a:p>
        </p:txBody>
      </p:sp>
      <p:sp>
        <p:nvSpPr>
          <p:cNvPr id="8" name="Shape 6"/>
          <p:cNvSpPr/>
          <p:nvPr/>
        </p:nvSpPr>
        <p:spPr>
          <a:xfrm>
            <a:off x="548640" y="3291840"/>
            <a:ext cx="11064240" cy="3063240"/>
          </a:xfrm>
          <a:prstGeom prst="rect">
            <a:avLst/>
          </a:prstGeom>
          <a:solidFill>
            <a:srgbClr val="EAFBF1"/>
          </a:solidFill>
          <a:ln w="12700">
            <a:solidFill>
              <a:srgbClr val="A8E6C1"/>
            </a:solidFill>
            <a:prstDash val="solid"/>
          </a:ln>
        </p:spPr>
      </p:sp>
      <p:sp>
        <p:nvSpPr>
          <p:cNvPr id="9" name="Text 7"/>
          <p:cNvSpPr/>
          <p:nvPr/>
        </p:nvSpPr>
        <p:spPr>
          <a:xfrm>
            <a:off x="822960" y="3429000"/>
            <a:ext cx="3657600" cy="256032"/>
          </a:xfrm>
          <a:prstGeom prst="rect">
            <a:avLst/>
          </a:prstGeom>
          <a:noFill/>
          <a:ln/>
        </p:spPr>
        <p:txBody>
          <a:bodyPr wrap="square" rtlCol="0" anchor="ctr"/>
          <a:lstStyle/>
          <a:p>
            <a:pPr indent="0" marL="0">
              <a:buNone/>
            </a:pPr>
            <a:r>
              <a:rPr lang="en-US" sz="1100" b="1" spc="150" kern="0" dirty="0">
                <a:solidFill>
                  <a:srgbClr val="1E8449"/>
                </a:solidFill>
                <a:latin typeface="Calibri" pitchFamily="34" charset="0"/>
                <a:ea typeface="Calibri" pitchFamily="34" charset="-122"/>
                <a:cs typeface="Calibri" pitchFamily="34" charset="-120"/>
              </a:rPr>
              <a:t>THE OUTPUT</a:t>
            </a:r>
            <a:endParaRPr lang="en-US" sz="1100" dirty="0"/>
          </a:p>
        </p:txBody>
      </p:sp>
      <p:sp>
        <p:nvSpPr>
          <p:cNvPr id="10" name="Text 8"/>
          <p:cNvSpPr/>
          <p:nvPr/>
        </p:nvSpPr>
        <p:spPr>
          <a:xfrm>
            <a:off x="822960" y="3703320"/>
            <a:ext cx="10424160" cy="2560320"/>
          </a:xfrm>
          <a:prstGeom prst="rect">
            <a:avLst/>
          </a:prstGeom>
          <a:noFill/>
          <a:ln/>
        </p:spPr>
        <p:txBody>
          <a:bodyPr wrap="square" rtlCol="0" anchor="ctr"/>
          <a:lstStyle/>
          <a:p>
            <a:pPr indent="0" marL="0">
              <a:buNone/>
            </a:pPr>
            <a:r>
              <a:rPr lang="en-US" sz="1200" dirty="0">
                <a:solidFill>
                  <a:srgbClr val="3A3A3A"/>
                </a:solidFill>
                <a:latin typeface="Calibri" pitchFamily="34" charset="0"/>
                <a:ea typeface="Calibri" pitchFamily="34" charset="-122"/>
                <a:cs typeface="Calibri" pitchFamily="34" charset="-120"/>
              </a:rPr>
              <a:t>Subject: Quick Update on Your Project</a:t>
            </a:r>
            <a:endParaRPr lang="en-US" sz="1200" dirty="0"/>
          </a:p>
          <a:p>
            <a:pPr indent="0" marL="0">
              <a:buNone/>
            </a:pPr>
            <a:endParaRPr lang="en-US" sz="1200" dirty="0"/>
          </a:p>
          <a:p>
            <a:pPr indent="0" marL="0">
              <a:buNone/>
            </a:pPr>
            <a:r>
              <a:rPr lang="en-US" sz="1200" dirty="0">
                <a:solidFill>
                  <a:srgbClr val="3A3A3A"/>
                </a:solidFill>
                <a:latin typeface="Calibri" pitchFamily="34" charset="0"/>
                <a:ea typeface="Calibri" pitchFamily="34" charset="-122"/>
                <a:cs typeface="Calibri" pitchFamily="34" charset="-120"/>
              </a:rPr>
              <a:t>Hi Sarah,</a:t>
            </a:r>
            <a:endParaRPr lang="en-US" sz="1200" dirty="0"/>
          </a:p>
          <a:p>
            <a:pPr indent="0" marL="0">
              <a:buNone/>
            </a:pPr>
            <a:endParaRPr lang="en-US" sz="1200" dirty="0"/>
          </a:p>
          <a:p>
            <a:pPr indent="0" marL="0">
              <a:buNone/>
            </a:pPr>
            <a:r>
              <a:rPr lang="en-US" sz="1200" dirty="0">
                <a:solidFill>
                  <a:srgbClr val="3A3A3A"/>
                </a:solidFill>
                <a:latin typeface="Calibri" pitchFamily="34" charset="0"/>
                <a:ea typeface="Calibri" pitchFamily="34" charset="-122"/>
                <a:cs typeface="Calibri" pitchFamily="34" charset="-120"/>
              </a:rPr>
              <a:t>I wanted to give you a quick heads-up: I'll need two extra days to deliver the final files. I'm using this time to refine a few details and make sure everything meets the standard you're expecting.</a:t>
            </a:r>
            <a:endParaRPr lang="en-US" sz="1200" dirty="0"/>
          </a:p>
          <a:p>
            <a:pPr indent="0" marL="0">
              <a:buNone/>
            </a:pPr>
            <a:endParaRPr lang="en-US" sz="1200" dirty="0"/>
          </a:p>
          <a:p>
            <a:pPr indent="0" marL="0">
              <a:buNone/>
            </a:pPr>
            <a:r>
              <a:rPr lang="en-US" sz="1200" dirty="0">
                <a:solidFill>
                  <a:srgbClr val="3A3A3A"/>
                </a:solidFill>
                <a:latin typeface="Calibri" pitchFamily="34" charset="0"/>
                <a:ea typeface="Calibri" pitchFamily="34" charset="-122"/>
                <a:cs typeface="Calibri" pitchFamily="34" charset="-120"/>
              </a:rPr>
              <a:t>The extra care will be worth it — I'll have everything to you by Thursday.</a:t>
            </a:r>
            <a:endParaRPr lang="en-US" sz="1200" dirty="0"/>
          </a:p>
          <a:p>
            <a:pPr indent="0" marL="0">
              <a:buNone/>
            </a:pPr>
            <a:endParaRPr lang="en-US" sz="1200" dirty="0"/>
          </a:p>
          <a:p>
            <a:pPr indent="0" marL="0">
              <a:buNone/>
            </a:pPr>
            <a:r>
              <a:rPr lang="en-US" sz="1200" dirty="0">
                <a:solidFill>
                  <a:srgbClr val="3A3A3A"/>
                </a:solidFill>
                <a:latin typeface="Calibri" pitchFamily="34" charset="0"/>
                <a:ea typeface="Calibri" pitchFamily="34" charset="-122"/>
                <a:cs typeface="Calibri" pitchFamily="34" charset="-120"/>
              </a:rPr>
              <a:t>Thanks for your patience,</a:t>
            </a:r>
            <a:endParaRPr lang="en-US" sz="1200" dirty="0"/>
          </a:p>
          <a:p>
            <a:pPr indent="0" marL="0">
              <a:buNone/>
            </a:pPr>
            <a:r>
              <a:rPr lang="en-US" sz="1200" dirty="0">
                <a:solidFill>
                  <a:srgbClr val="3A3A3A"/>
                </a:solidFill>
                <a:latin typeface="Calibri" pitchFamily="34" charset="0"/>
                <a:ea typeface="Calibri" pitchFamily="34" charset="-122"/>
                <a:cs typeface="Calibri" pitchFamily="34" charset="-120"/>
              </a:rPr>
              <a:t>[Name]</a:t>
            </a:r>
            <a:endParaRPr lang="en-US" sz="12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18</a:t>
            </a:r>
            <a:endParaRPr lang="en-US" sz="10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FULL WORKED EXAMPLE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2 — Marketing Copy</a:t>
            </a:r>
            <a:endParaRPr lang="en-US" sz="2600" dirty="0"/>
          </a:p>
        </p:txBody>
      </p:sp>
      <p:sp>
        <p:nvSpPr>
          <p:cNvPr id="4" name="Text 2"/>
          <p:cNvSpPr/>
          <p:nvPr/>
        </p:nvSpPr>
        <p:spPr>
          <a:xfrm>
            <a:off x="548640" y="1371600"/>
            <a:ext cx="10698480" cy="41148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 bakery owner needs a caption that drives orders, not just likes.</a:t>
            </a:r>
            <a:endParaRPr lang="en-US" sz="1300" dirty="0"/>
          </a:p>
        </p:txBody>
      </p:sp>
      <p:sp>
        <p:nvSpPr>
          <p:cNvPr id="5" name="Shape 3"/>
          <p:cNvSpPr/>
          <p:nvPr/>
        </p:nvSpPr>
        <p:spPr>
          <a:xfrm>
            <a:off x="548640" y="1783080"/>
            <a:ext cx="11064240" cy="1371600"/>
          </a:xfrm>
          <a:prstGeom prst="rect">
            <a:avLst/>
          </a:prstGeom>
          <a:solidFill>
            <a:srgbClr val="F7F8FC"/>
          </a:solidFill>
          <a:ln w="12700">
            <a:solidFill>
              <a:srgbClr val="E2E5F1"/>
            </a:solidFill>
            <a:prstDash val="solid"/>
          </a:ln>
        </p:spPr>
      </p:sp>
      <p:sp>
        <p:nvSpPr>
          <p:cNvPr id="6" name="Text 4"/>
          <p:cNvSpPr/>
          <p:nvPr/>
        </p:nvSpPr>
        <p:spPr>
          <a:xfrm>
            <a:off x="822960" y="1901952"/>
            <a:ext cx="3657600" cy="256032"/>
          </a:xfrm>
          <a:prstGeom prst="rect">
            <a:avLst/>
          </a:prstGeom>
          <a:noFill/>
          <a:ln/>
        </p:spPr>
        <p:txBody>
          <a:bodyPr wrap="square"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THE PROMPT</a:t>
            </a:r>
            <a:endParaRPr lang="en-US" sz="1100" dirty="0"/>
          </a:p>
        </p:txBody>
      </p:sp>
      <p:sp>
        <p:nvSpPr>
          <p:cNvPr id="7" name="Text 5"/>
          <p:cNvSpPr/>
          <p:nvPr/>
        </p:nvSpPr>
        <p:spPr>
          <a:xfrm>
            <a:off x="822960" y="2176272"/>
            <a:ext cx="10424160" cy="914400"/>
          </a:xfrm>
          <a:prstGeom prst="rect">
            <a:avLst/>
          </a:prstGeom>
          <a:noFill/>
          <a:ln/>
        </p:spPr>
        <p:txBody>
          <a:bodyPr wrap="square" rtlCol="0" anchor="ctr"/>
          <a:lstStyle/>
          <a:p>
            <a:pPr indent="0" marL="0">
              <a:buNone/>
            </a:pPr>
            <a:r>
              <a:rPr lang="en-US" sz="1400" i="1" dirty="0">
                <a:solidFill>
                  <a:srgbClr val="1E2761"/>
                </a:solidFill>
                <a:latin typeface="Cambria" pitchFamily="34" charset="0"/>
                <a:ea typeface="Cambria" pitchFamily="34" charset="-122"/>
                <a:cs typeface="Cambria" pitchFamily="34" charset="-120"/>
              </a:rPr>
              <a:t>“I run a home bakery in Karachi making eggless cakes. Write an Instagram caption to attract new customers — warm, relatable tone, 2-3 emojis, ending with a clear call-to-action to DM for orders. Under 150 characters.”</a:t>
            </a:r>
            <a:endParaRPr lang="en-US" sz="1400" dirty="0"/>
          </a:p>
        </p:txBody>
      </p:sp>
      <p:sp>
        <p:nvSpPr>
          <p:cNvPr id="8" name="Shape 6"/>
          <p:cNvSpPr/>
          <p:nvPr/>
        </p:nvSpPr>
        <p:spPr>
          <a:xfrm>
            <a:off x="548640" y="3291840"/>
            <a:ext cx="11064240" cy="3063240"/>
          </a:xfrm>
          <a:prstGeom prst="rect">
            <a:avLst/>
          </a:prstGeom>
          <a:solidFill>
            <a:srgbClr val="EAFBF1"/>
          </a:solidFill>
          <a:ln w="12700">
            <a:solidFill>
              <a:srgbClr val="A8E6C1"/>
            </a:solidFill>
            <a:prstDash val="solid"/>
          </a:ln>
        </p:spPr>
      </p:sp>
      <p:sp>
        <p:nvSpPr>
          <p:cNvPr id="9" name="Text 7"/>
          <p:cNvSpPr/>
          <p:nvPr/>
        </p:nvSpPr>
        <p:spPr>
          <a:xfrm>
            <a:off x="822960" y="3429000"/>
            <a:ext cx="3657600" cy="256032"/>
          </a:xfrm>
          <a:prstGeom prst="rect">
            <a:avLst/>
          </a:prstGeom>
          <a:noFill/>
          <a:ln/>
        </p:spPr>
        <p:txBody>
          <a:bodyPr wrap="square" rtlCol="0" anchor="ctr"/>
          <a:lstStyle/>
          <a:p>
            <a:pPr indent="0" marL="0">
              <a:buNone/>
            </a:pPr>
            <a:r>
              <a:rPr lang="en-US" sz="1100" b="1" spc="150" kern="0" dirty="0">
                <a:solidFill>
                  <a:srgbClr val="1E8449"/>
                </a:solidFill>
                <a:latin typeface="Calibri" pitchFamily="34" charset="0"/>
                <a:ea typeface="Calibri" pitchFamily="34" charset="-122"/>
                <a:cs typeface="Calibri" pitchFamily="34" charset="-120"/>
              </a:rPr>
              <a:t>THE OUTPUT</a:t>
            </a:r>
            <a:endParaRPr lang="en-US" sz="1100" dirty="0"/>
          </a:p>
        </p:txBody>
      </p:sp>
      <p:sp>
        <p:nvSpPr>
          <p:cNvPr id="10" name="Text 8"/>
          <p:cNvSpPr/>
          <p:nvPr/>
        </p:nvSpPr>
        <p:spPr>
          <a:xfrm>
            <a:off x="822960" y="3703320"/>
            <a:ext cx="10424160" cy="2560320"/>
          </a:xfrm>
          <a:prstGeom prst="rect">
            <a:avLst/>
          </a:prstGeom>
          <a:noFill/>
          <a:ln/>
        </p:spPr>
        <p:txBody>
          <a:bodyPr wrap="square" rtlCol="0" anchor="ctr"/>
          <a:lstStyle/>
          <a:p>
            <a:pPr indent="0" marL="0">
              <a:buNone/>
            </a:pPr>
            <a:r>
              <a:rPr lang="en-US" sz="1200" dirty="0">
                <a:solidFill>
                  <a:srgbClr val="3A3A3A"/>
                </a:solidFill>
                <a:latin typeface="Calibri" pitchFamily="34" charset="0"/>
                <a:ea typeface="Calibri" pitchFamily="34" charset="-122"/>
                <a:cs typeface="Calibri" pitchFamily="34" charset="-120"/>
              </a:rPr>
              <a:t>Fresh eggless cakes made with love, straight from our kitchen to your table 🍰✨</a:t>
            </a:r>
            <a:endParaRPr lang="en-US" sz="1200" dirty="0"/>
          </a:p>
          <a:p>
            <a:pPr indent="0" marL="0">
              <a:buNone/>
            </a:pPr>
            <a:endParaRPr lang="en-US" sz="1200" dirty="0"/>
          </a:p>
          <a:p>
            <a:pPr indent="0" marL="0">
              <a:buNone/>
            </a:pPr>
            <a:r>
              <a:rPr lang="en-US" sz="1200" dirty="0">
                <a:solidFill>
                  <a:srgbClr val="3A3A3A"/>
                </a:solidFill>
                <a:latin typeface="Calibri" pitchFamily="34" charset="0"/>
                <a:ea typeface="Calibri" pitchFamily="34" charset="-122"/>
                <a:cs typeface="Calibri" pitchFamily="34" charset="-120"/>
              </a:rPr>
              <a:t>Celebrating something special? DM us to order! 💬</a:t>
            </a:r>
            <a:endParaRPr lang="en-US" sz="12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19</a:t>
            </a:r>
            <a:endParaRPr lang="en-US" sz="1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FULL WORKED EXAMPLE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3 — Study Summary</a:t>
            </a:r>
            <a:endParaRPr lang="en-US" sz="2600" dirty="0"/>
          </a:p>
        </p:txBody>
      </p:sp>
      <p:sp>
        <p:nvSpPr>
          <p:cNvPr id="4" name="Text 2"/>
          <p:cNvSpPr/>
          <p:nvPr/>
        </p:nvSpPr>
        <p:spPr>
          <a:xfrm>
            <a:off x="548640" y="1371600"/>
            <a:ext cx="10698480" cy="411480"/>
          </a:xfrm>
          <a:prstGeom prst="rect">
            <a:avLst/>
          </a:prstGeom>
          <a:noFill/>
          <a:ln/>
        </p:spPr>
        <p:txBody>
          <a:bodyPr wrap="square" rtlCol="0" anchor="ctr"/>
          <a:lstStyle/>
          <a:p>
            <a:pPr indent="0" marL="0">
              <a:buNone/>
            </a:pPr>
            <a:r>
              <a:rPr lang="en-US" sz="1300" i="1" dirty="0">
                <a:solidFill>
                  <a:srgbClr val="6B7280"/>
                </a:solidFill>
                <a:latin typeface="Calibri" pitchFamily="34" charset="0"/>
                <a:ea typeface="Calibri" pitchFamily="34" charset="-122"/>
                <a:cs typeface="Calibri" pitchFamily="34" charset="-120"/>
              </a:rPr>
              <a:t>A student needs a complex topic explained simply, in a memorable way, for an exam.</a:t>
            </a:r>
            <a:endParaRPr lang="en-US" sz="1300" dirty="0"/>
          </a:p>
        </p:txBody>
      </p:sp>
      <p:sp>
        <p:nvSpPr>
          <p:cNvPr id="5" name="Shape 3"/>
          <p:cNvSpPr/>
          <p:nvPr/>
        </p:nvSpPr>
        <p:spPr>
          <a:xfrm>
            <a:off x="548640" y="1783080"/>
            <a:ext cx="11064240" cy="1371600"/>
          </a:xfrm>
          <a:prstGeom prst="rect">
            <a:avLst/>
          </a:prstGeom>
          <a:solidFill>
            <a:srgbClr val="F7F8FC"/>
          </a:solidFill>
          <a:ln w="12700">
            <a:solidFill>
              <a:srgbClr val="E2E5F1"/>
            </a:solidFill>
            <a:prstDash val="solid"/>
          </a:ln>
        </p:spPr>
      </p:sp>
      <p:sp>
        <p:nvSpPr>
          <p:cNvPr id="6" name="Text 4"/>
          <p:cNvSpPr/>
          <p:nvPr/>
        </p:nvSpPr>
        <p:spPr>
          <a:xfrm>
            <a:off x="822960" y="1901952"/>
            <a:ext cx="3657600" cy="256032"/>
          </a:xfrm>
          <a:prstGeom prst="rect">
            <a:avLst/>
          </a:prstGeom>
          <a:noFill/>
          <a:ln/>
        </p:spPr>
        <p:txBody>
          <a:bodyPr wrap="square" rtlCol="0" anchor="ctr"/>
          <a:lstStyle/>
          <a:p>
            <a:pPr indent="0" marL="0">
              <a:buNone/>
            </a:pPr>
            <a:r>
              <a:rPr lang="en-US" sz="1100" b="1" spc="150" kern="0" dirty="0">
                <a:solidFill>
                  <a:srgbClr val="1E2761"/>
                </a:solidFill>
                <a:latin typeface="Calibri" pitchFamily="34" charset="0"/>
                <a:ea typeface="Calibri" pitchFamily="34" charset="-122"/>
                <a:cs typeface="Calibri" pitchFamily="34" charset="-120"/>
              </a:rPr>
              <a:t>THE PROMPT</a:t>
            </a:r>
            <a:endParaRPr lang="en-US" sz="1100" dirty="0"/>
          </a:p>
        </p:txBody>
      </p:sp>
      <p:sp>
        <p:nvSpPr>
          <p:cNvPr id="7" name="Text 5"/>
          <p:cNvSpPr/>
          <p:nvPr/>
        </p:nvSpPr>
        <p:spPr>
          <a:xfrm>
            <a:off x="822960" y="2176272"/>
            <a:ext cx="10424160" cy="914400"/>
          </a:xfrm>
          <a:prstGeom prst="rect">
            <a:avLst/>
          </a:prstGeom>
          <a:noFill/>
          <a:ln/>
        </p:spPr>
        <p:txBody>
          <a:bodyPr wrap="square" rtlCol="0" anchor="ctr"/>
          <a:lstStyle/>
          <a:p>
            <a:pPr indent="0" marL="0">
              <a:buNone/>
            </a:pPr>
            <a:r>
              <a:rPr lang="en-US" sz="1400" i="1" dirty="0">
                <a:solidFill>
                  <a:srgbClr val="1E2761"/>
                </a:solidFill>
                <a:latin typeface="Cambria" pitchFamily="34" charset="0"/>
                <a:ea typeface="Cambria" pitchFamily="34" charset="-122"/>
                <a:cs typeface="Cambria" pitchFamily="34" charset="-120"/>
              </a:rPr>
              <a:t>“Explain photosynthesis using a simple cooking analogy, in 4-5 lines. End with a short one-liner I can memorize for my exam.”</a:t>
            </a:r>
            <a:endParaRPr lang="en-US" sz="1400" dirty="0"/>
          </a:p>
        </p:txBody>
      </p:sp>
      <p:sp>
        <p:nvSpPr>
          <p:cNvPr id="8" name="Shape 6"/>
          <p:cNvSpPr/>
          <p:nvPr/>
        </p:nvSpPr>
        <p:spPr>
          <a:xfrm>
            <a:off x="548640" y="3291840"/>
            <a:ext cx="11064240" cy="3063240"/>
          </a:xfrm>
          <a:prstGeom prst="rect">
            <a:avLst/>
          </a:prstGeom>
          <a:solidFill>
            <a:srgbClr val="EAFBF1"/>
          </a:solidFill>
          <a:ln w="12700">
            <a:solidFill>
              <a:srgbClr val="A8E6C1"/>
            </a:solidFill>
            <a:prstDash val="solid"/>
          </a:ln>
        </p:spPr>
      </p:sp>
      <p:sp>
        <p:nvSpPr>
          <p:cNvPr id="9" name="Text 7"/>
          <p:cNvSpPr/>
          <p:nvPr/>
        </p:nvSpPr>
        <p:spPr>
          <a:xfrm>
            <a:off x="822960" y="3429000"/>
            <a:ext cx="3657600" cy="256032"/>
          </a:xfrm>
          <a:prstGeom prst="rect">
            <a:avLst/>
          </a:prstGeom>
          <a:noFill/>
          <a:ln/>
        </p:spPr>
        <p:txBody>
          <a:bodyPr wrap="square" rtlCol="0" anchor="ctr"/>
          <a:lstStyle/>
          <a:p>
            <a:pPr indent="0" marL="0">
              <a:buNone/>
            </a:pPr>
            <a:r>
              <a:rPr lang="en-US" sz="1100" b="1" spc="150" kern="0" dirty="0">
                <a:solidFill>
                  <a:srgbClr val="1E8449"/>
                </a:solidFill>
                <a:latin typeface="Calibri" pitchFamily="34" charset="0"/>
                <a:ea typeface="Calibri" pitchFamily="34" charset="-122"/>
                <a:cs typeface="Calibri" pitchFamily="34" charset="-120"/>
              </a:rPr>
              <a:t>THE OUTPUT</a:t>
            </a:r>
            <a:endParaRPr lang="en-US" sz="1100" dirty="0"/>
          </a:p>
        </p:txBody>
      </p:sp>
      <p:sp>
        <p:nvSpPr>
          <p:cNvPr id="10" name="Text 8"/>
          <p:cNvSpPr/>
          <p:nvPr/>
        </p:nvSpPr>
        <p:spPr>
          <a:xfrm>
            <a:off x="822960" y="3703320"/>
            <a:ext cx="10424160" cy="2560320"/>
          </a:xfrm>
          <a:prstGeom prst="rect">
            <a:avLst/>
          </a:prstGeom>
          <a:noFill/>
          <a:ln/>
        </p:spPr>
        <p:txBody>
          <a:bodyPr wrap="square" rtlCol="0" anchor="ctr"/>
          <a:lstStyle/>
          <a:p>
            <a:pPr indent="0" marL="0">
              <a:buNone/>
            </a:pPr>
            <a:r>
              <a:rPr lang="en-US" sz="1200" dirty="0">
                <a:solidFill>
                  <a:srgbClr val="3A3A3A"/>
                </a:solidFill>
                <a:latin typeface="Calibri" pitchFamily="34" charset="0"/>
                <a:ea typeface="Calibri" pitchFamily="34" charset="-122"/>
                <a:cs typeface="Calibri" pitchFamily="34" charset="-120"/>
              </a:rPr>
              <a:t>Think of a plant as a tiny chef. It takes sunlight (the stove), water (an ingredient), and carbon dioxide (another ingredient) to cook up its own food — glucose — releasing oxygen as a byproduct.</a:t>
            </a:r>
            <a:endParaRPr lang="en-US" sz="1200" dirty="0"/>
          </a:p>
          <a:p>
            <a:pPr indent="0" marL="0">
              <a:buNone/>
            </a:pPr>
            <a:endParaRPr lang="en-US" sz="1200" dirty="0"/>
          </a:p>
          <a:p>
            <a:pPr indent="0" marL="0">
              <a:buNone/>
            </a:pPr>
            <a:r>
              <a:rPr lang="en-US" sz="1200" dirty="0">
                <a:solidFill>
                  <a:srgbClr val="3A3A3A"/>
                </a:solidFill>
                <a:latin typeface="Calibri" pitchFamily="34" charset="0"/>
                <a:ea typeface="Calibri" pitchFamily="34" charset="-122"/>
                <a:cs typeface="Calibri" pitchFamily="34" charset="-120"/>
              </a:rPr>
              <a:t>One-liner: “Light in, food made, oxygen out.”</a:t>
            </a:r>
            <a:endParaRPr lang="en-US" sz="12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20</a:t>
            </a:r>
            <a:endParaRPr lang="en-US" sz="10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A REALITY CHECK</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Knowing the Theory Isn't the Same as Using It</a:t>
            </a:r>
            <a:endParaRPr lang="en-US" sz="3200" dirty="0"/>
          </a:p>
        </p:txBody>
      </p:sp>
      <p:sp>
        <p:nvSpPr>
          <p:cNvPr id="4" name="Text 2"/>
          <p:cNvSpPr/>
          <p:nvPr/>
        </p:nvSpPr>
        <p:spPr>
          <a:xfrm>
            <a:off x="548640" y="1417320"/>
            <a:ext cx="10515600" cy="548640"/>
          </a:xfrm>
          <a:prstGeom prst="rect">
            <a:avLst/>
          </a:prstGeom>
          <a:noFill/>
          <a:ln/>
        </p:spPr>
        <p:txBody>
          <a:bodyPr wrap="square" rtlCol="0" anchor="ctr"/>
          <a:lstStyle/>
          <a:p>
            <a:pPr indent="0" marL="0">
              <a:buNone/>
            </a:pPr>
            <a:r>
              <a:rPr lang="en-US" sz="1500" dirty="0">
                <a:solidFill>
                  <a:srgbClr val="3A3A3A"/>
                </a:solidFill>
                <a:latin typeface="Calibri" pitchFamily="34" charset="0"/>
                <a:ea typeface="Calibri" pitchFamily="34" charset="-122"/>
                <a:cs typeface="Calibri" pitchFamily="34" charset="-120"/>
              </a:rPr>
              <a:t>These are the mistakes we see most often — even from people who already understand all 5 elements.</a:t>
            </a:r>
            <a:endParaRPr lang="en-US" sz="1500" dirty="0"/>
          </a:p>
        </p:txBody>
      </p:sp>
      <p:sp>
        <p:nvSpPr>
          <p:cNvPr id="5" name="Shape 3"/>
          <p:cNvSpPr/>
          <p:nvPr/>
        </p:nvSpPr>
        <p:spPr>
          <a:xfrm>
            <a:off x="548640" y="2377440"/>
            <a:ext cx="11064240" cy="914400"/>
          </a:xfrm>
          <a:prstGeom prst="rect">
            <a:avLst/>
          </a:prstGeom>
          <a:solidFill>
            <a:srgbClr val="FFFFFF"/>
          </a:solidFill>
          <a:ln w="12700">
            <a:solidFill>
              <a:srgbClr val="E2E5F1"/>
            </a:solidFill>
            <a:prstDash val="solid"/>
          </a:ln>
        </p:spPr>
      </p:sp>
      <p:sp>
        <p:nvSpPr>
          <p:cNvPr id="6" name="Text 4"/>
          <p:cNvSpPr/>
          <p:nvPr/>
        </p:nvSpPr>
        <p:spPr>
          <a:xfrm>
            <a:off x="777240" y="2377440"/>
            <a:ext cx="822960" cy="914400"/>
          </a:xfrm>
          <a:prstGeom prst="rect">
            <a:avLst/>
          </a:prstGeom>
          <a:noFill/>
          <a:ln/>
        </p:spPr>
        <p:txBody>
          <a:bodyPr wrap="square" rtlCol="0" anchor="ctr"/>
          <a:lstStyle/>
          <a:p>
            <a:pPr indent="0" marL="0">
              <a:buNone/>
            </a:pPr>
            <a:r>
              <a:rPr lang="en-US" sz="2600" b="1" dirty="0">
                <a:solidFill>
                  <a:srgbClr val="F9A826"/>
                </a:solidFill>
                <a:latin typeface="Cambria" pitchFamily="34" charset="0"/>
                <a:ea typeface="Cambria" pitchFamily="34" charset="-122"/>
                <a:cs typeface="Cambria" pitchFamily="34" charset="-120"/>
              </a:rPr>
              <a:t>01</a:t>
            </a:r>
            <a:endParaRPr lang="en-US" sz="2600" dirty="0"/>
          </a:p>
        </p:txBody>
      </p:sp>
      <p:sp>
        <p:nvSpPr>
          <p:cNvPr id="7" name="Text 5"/>
          <p:cNvSpPr/>
          <p:nvPr/>
        </p:nvSpPr>
        <p:spPr>
          <a:xfrm>
            <a:off x="1645920" y="2377440"/>
            <a:ext cx="9692640" cy="914400"/>
          </a:xfrm>
          <a:prstGeom prst="rect">
            <a:avLst/>
          </a:prstGeom>
          <a:noFill/>
          <a:ln/>
        </p:spPr>
        <p:txBody>
          <a:bodyPr wrap="square" rtlCol="0" anchor="ctr"/>
          <a:lstStyle/>
          <a:p>
            <a:pPr indent="0" marL="0">
              <a:buNone/>
            </a:pPr>
            <a:r>
              <a:rPr lang="en-US" sz="1500" dirty="0">
                <a:solidFill>
                  <a:srgbClr val="1E2761"/>
                </a:solidFill>
                <a:latin typeface="Calibri" pitchFamily="34" charset="0"/>
                <a:ea typeface="Calibri" pitchFamily="34" charset="-122"/>
                <a:cs typeface="Calibri" pitchFamily="34" charset="-120"/>
              </a:rPr>
              <a:t>Writing a vague task and expecting the AI to “figure it out”</a:t>
            </a:r>
            <a:endParaRPr lang="en-US" sz="1500" dirty="0"/>
          </a:p>
        </p:txBody>
      </p:sp>
      <p:sp>
        <p:nvSpPr>
          <p:cNvPr id="8" name="Shape 6"/>
          <p:cNvSpPr/>
          <p:nvPr/>
        </p:nvSpPr>
        <p:spPr>
          <a:xfrm>
            <a:off x="548640" y="3474720"/>
            <a:ext cx="11064240" cy="914400"/>
          </a:xfrm>
          <a:prstGeom prst="rect">
            <a:avLst/>
          </a:prstGeom>
          <a:solidFill>
            <a:srgbClr val="FFFFFF"/>
          </a:solidFill>
          <a:ln w="12700">
            <a:solidFill>
              <a:srgbClr val="E2E5F1"/>
            </a:solidFill>
            <a:prstDash val="solid"/>
          </a:ln>
        </p:spPr>
      </p:sp>
      <p:sp>
        <p:nvSpPr>
          <p:cNvPr id="9" name="Text 7"/>
          <p:cNvSpPr/>
          <p:nvPr/>
        </p:nvSpPr>
        <p:spPr>
          <a:xfrm>
            <a:off x="777240" y="3474720"/>
            <a:ext cx="822960" cy="914400"/>
          </a:xfrm>
          <a:prstGeom prst="rect">
            <a:avLst/>
          </a:prstGeom>
          <a:noFill/>
          <a:ln/>
        </p:spPr>
        <p:txBody>
          <a:bodyPr wrap="square" rtlCol="0" anchor="ctr"/>
          <a:lstStyle/>
          <a:p>
            <a:pPr indent="0" marL="0">
              <a:buNone/>
            </a:pPr>
            <a:r>
              <a:rPr lang="en-US" sz="2600" b="1" dirty="0">
                <a:solidFill>
                  <a:srgbClr val="F9A826"/>
                </a:solidFill>
                <a:latin typeface="Cambria" pitchFamily="34" charset="0"/>
                <a:ea typeface="Cambria" pitchFamily="34" charset="-122"/>
                <a:cs typeface="Cambria" pitchFamily="34" charset="-120"/>
              </a:rPr>
              <a:t>02</a:t>
            </a:r>
            <a:endParaRPr lang="en-US" sz="2600" dirty="0"/>
          </a:p>
        </p:txBody>
      </p:sp>
      <p:sp>
        <p:nvSpPr>
          <p:cNvPr id="10" name="Text 8"/>
          <p:cNvSpPr/>
          <p:nvPr/>
        </p:nvSpPr>
        <p:spPr>
          <a:xfrm>
            <a:off x="1645920" y="3474720"/>
            <a:ext cx="9692640" cy="914400"/>
          </a:xfrm>
          <a:prstGeom prst="rect">
            <a:avLst/>
          </a:prstGeom>
          <a:noFill/>
          <a:ln/>
        </p:spPr>
        <p:txBody>
          <a:bodyPr wrap="square" rtlCol="0" anchor="ctr"/>
          <a:lstStyle/>
          <a:p>
            <a:pPr indent="0" marL="0">
              <a:buNone/>
            </a:pPr>
            <a:r>
              <a:rPr lang="en-US" sz="1500" dirty="0">
                <a:solidFill>
                  <a:srgbClr val="1E2761"/>
                </a:solidFill>
                <a:latin typeface="Calibri" pitchFamily="34" charset="0"/>
                <a:ea typeface="Calibri" pitchFamily="34" charset="-122"/>
                <a:cs typeface="Calibri" pitchFamily="34" charset="-120"/>
              </a:rPr>
              <a:t>Forgetting to specify format, then manually reformatting the output</a:t>
            </a:r>
            <a:endParaRPr lang="en-US" sz="1500" dirty="0"/>
          </a:p>
        </p:txBody>
      </p:sp>
      <p:sp>
        <p:nvSpPr>
          <p:cNvPr id="11" name="Shape 9"/>
          <p:cNvSpPr/>
          <p:nvPr/>
        </p:nvSpPr>
        <p:spPr>
          <a:xfrm>
            <a:off x="548640" y="4572000"/>
            <a:ext cx="11064240" cy="914400"/>
          </a:xfrm>
          <a:prstGeom prst="rect">
            <a:avLst/>
          </a:prstGeom>
          <a:solidFill>
            <a:srgbClr val="FFFFFF"/>
          </a:solidFill>
          <a:ln w="12700">
            <a:solidFill>
              <a:srgbClr val="E2E5F1"/>
            </a:solidFill>
            <a:prstDash val="solid"/>
          </a:ln>
        </p:spPr>
      </p:sp>
      <p:sp>
        <p:nvSpPr>
          <p:cNvPr id="12" name="Text 10"/>
          <p:cNvSpPr/>
          <p:nvPr/>
        </p:nvSpPr>
        <p:spPr>
          <a:xfrm>
            <a:off x="777240" y="4572000"/>
            <a:ext cx="822960" cy="914400"/>
          </a:xfrm>
          <a:prstGeom prst="rect">
            <a:avLst/>
          </a:prstGeom>
          <a:noFill/>
          <a:ln/>
        </p:spPr>
        <p:txBody>
          <a:bodyPr wrap="square" rtlCol="0" anchor="ctr"/>
          <a:lstStyle/>
          <a:p>
            <a:pPr indent="0" marL="0">
              <a:buNone/>
            </a:pPr>
            <a:r>
              <a:rPr lang="en-US" sz="2600" b="1" dirty="0">
                <a:solidFill>
                  <a:srgbClr val="F9A826"/>
                </a:solidFill>
                <a:latin typeface="Cambria" pitchFamily="34" charset="0"/>
                <a:ea typeface="Cambria" pitchFamily="34" charset="-122"/>
                <a:cs typeface="Cambria" pitchFamily="34" charset="-120"/>
              </a:rPr>
              <a:t>03</a:t>
            </a:r>
            <a:endParaRPr lang="en-US" sz="2600" dirty="0"/>
          </a:p>
        </p:txBody>
      </p:sp>
      <p:sp>
        <p:nvSpPr>
          <p:cNvPr id="13" name="Text 11"/>
          <p:cNvSpPr/>
          <p:nvPr/>
        </p:nvSpPr>
        <p:spPr>
          <a:xfrm>
            <a:off x="1645920" y="4572000"/>
            <a:ext cx="9692640" cy="914400"/>
          </a:xfrm>
          <a:prstGeom prst="rect">
            <a:avLst/>
          </a:prstGeom>
          <a:noFill/>
          <a:ln/>
        </p:spPr>
        <p:txBody>
          <a:bodyPr wrap="square" rtlCol="0" anchor="ctr"/>
          <a:lstStyle/>
          <a:p>
            <a:pPr indent="0" marL="0">
              <a:buNone/>
            </a:pPr>
            <a:r>
              <a:rPr lang="en-US" sz="1500" dirty="0">
                <a:solidFill>
                  <a:srgbClr val="1E2761"/>
                </a:solidFill>
                <a:latin typeface="Calibri" pitchFamily="34" charset="0"/>
                <a:ea typeface="Calibri" pitchFamily="34" charset="-122"/>
                <a:cs typeface="Calibri" pitchFamily="34" charset="-120"/>
              </a:rPr>
              <a:t>Never stating tone, then being surprised the result feels “off”</a:t>
            </a:r>
            <a:endParaRPr lang="en-US" sz="1500" dirty="0"/>
          </a:p>
        </p:txBody>
      </p:sp>
      <p:sp>
        <p:nvSpPr>
          <p:cNvPr id="14" name="Text 12"/>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5" name="Text 13"/>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21</a:t>
            </a:r>
            <a:endParaRPr lang="en-US" sz="10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MISTAKE IN ACTION</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Missing Format</a:t>
            </a:r>
            <a:endParaRPr lang="en-US" sz="2600" dirty="0"/>
          </a:p>
        </p:txBody>
      </p:sp>
      <p:sp>
        <p:nvSpPr>
          <p:cNvPr id="4" name="Shape 2"/>
          <p:cNvSpPr/>
          <p:nvPr/>
        </p:nvSpPr>
        <p:spPr>
          <a:xfrm>
            <a:off x="548640" y="1554480"/>
            <a:ext cx="11064240" cy="1371600"/>
          </a:xfrm>
          <a:prstGeom prst="rect">
            <a:avLst/>
          </a:prstGeom>
          <a:solidFill>
            <a:srgbClr val="FDEDEC"/>
          </a:solidFill>
          <a:ln w="12700">
            <a:solidFill>
              <a:srgbClr val="F1B0AC"/>
            </a:solidFill>
            <a:prstDash val="solid"/>
          </a:ln>
        </p:spPr>
      </p:sp>
      <p:sp>
        <p:nvSpPr>
          <p:cNvPr id="5" name="Text 3"/>
          <p:cNvSpPr/>
          <p:nvPr/>
        </p:nvSpPr>
        <p:spPr>
          <a:xfrm>
            <a:off x="822960" y="1737360"/>
            <a:ext cx="10515600" cy="685800"/>
          </a:xfrm>
          <a:prstGeom prst="rect">
            <a:avLst/>
          </a:prstGeom>
          <a:noFill/>
          <a:ln/>
        </p:spPr>
        <p:txBody>
          <a:bodyPr wrap="square" rtlCol="0" anchor="ctr"/>
          <a:lstStyle/>
          <a:p>
            <a:pPr indent="0" marL="0">
              <a:buNone/>
            </a:pPr>
            <a:r>
              <a:rPr lang="en-US" sz="1600" i="1" dirty="0">
                <a:solidFill>
                  <a:srgbClr val="1E2761"/>
                </a:solidFill>
                <a:latin typeface="Cambria" pitchFamily="34" charset="0"/>
                <a:ea typeface="Cambria" pitchFamily="34" charset="-122"/>
                <a:cs typeface="Cambria" pitchFamily="34" charset="-120"/>
              </a:rPr>
              <a:t>“Give me ideas for improving customer service.”</a:t>
            </a:r>
            <a:endParaRPr lang="en-US" sz="1600" dirty="0"/>
          </a:p>
        </p:txBody>
      </p:sp>
      <p:sp>
        <p:nvSpPr>
          <p:cNvPr id="6" name="Text 4"/>
          <p:cNvSpPr/>
          <p:nvPr/>
        </p:nvSpPr>
        <p:spPr>
          <a:xfrm>
            <a:off x="822960" y="2423160"/>
            <a:ext cx="10515600" cy="411480"/>
          </a:xfrm>
          <a:prstGeom prst="rect">
            <a:avLst/>
          </a:prstGeom>
          <a:noFill/>
          <a:ln/>
        </p:spPr>
        <p:txBody>
          <a:bodyPr wrap="square" rtlCol="0" anchor="ctr"/>
          <a:lstStyle/>
          <a:p>
            <a:pPr indent="0" marL="0">
              <a:buNone/>
            </a:pPr>
            <a:r>
              <a:rPr lang="en-US" sz="1250" dirty="0">
                <a:solidFill>
                  <a:srgbClr val="C0392B"/>
                </a:solidFill>
                <a:latin typeface="Calibri" pitchFamily="34" charset="0"/>
                <a:ea typeface="Calibri" pitchFamily="34" charset="-122"/>
                <a:cs typeface="Calibri" pitchFamily="34" charset="-120"/>
              </a:rPr>
              <a:t>Result: one long paragraph, hard to scan, needs manual reformatting into a list.</a:t>
            </a:r>
            <a:endParaRPr lang="en-US" sz="1250" dirty="0"/>
          </a:p>
        </p:txBody>
      </p:sp>
      <p:sp>
        <p:nvSpPr>
          <p:cNvPr id="7" name="Text 5"/>
          <p:cNvSpPr/>
          <p:nvPr/>
        </p:nvSpPr>
        <p:spPr>
          <a:xfrm>
            <a:off x="548640" y="3200400"/>
            <a:ext cx="2743200" cy="274320"/>
          </a:xfrm>
          <a:prstGeom prst="rect">
            <a:avLst/>
          </a:prstGeom>
          <a:noFill/>
          <a:ln/>
        </p:spPr>
        <p:txBody>
          <a:bodyPr wrap="square" rtlCol="0" anchor="ctr"/>
          <a:lstStyle/>
          <a:p>
            <a:pPr indent="0" marL="0">
              <a:buNone/>
            </a:pPr>
            <a:r>
              <a:rPr lang="en-US" sz="1200" b="1" spc="150" kern="0" dirty="0">
                <a:solidFill>
                  <a:srgbClr val="6B7280"/>
                </a:solidFill>
                <a:latin typeface="Calibri" pitchFamily="34" charset="0"/>
                <a:ea typeface="Calibri" pitchFamily="34" charset="-122"/>
                <a:cs typeface="Calibri" pitchFamily="34" charset="-120"/>
              </a:rPr>
              <a:t>THE FIX</a:t>
            </a:r>
            <a:endParaRPr lang="en-US" sz="1200" dirty="0"/>
          </a:p>
        </p:txBody>
      </p:sp>
      <p:sp>
        <p:nvSpPr>
          <p:cNvPr id="8" name="Shape 6"/>
          <p:cNvSpPr/>
          <p:nvPr/>
        </p:nvSpPr>
        <p:spPr>
          <a:xfrm>
            <a:off x="548640" y="3520440"/>
            <a:ext cx="11064240" cy="1554480"/>
          </a:xfrm>
          <a:prstGeom prst="rect">
            <a:avLst/>
          </a:prstGeom>
          <a:solidFill>
            <a:srgbClr val="EAFBF1"/>
          </a:solidFill>
          <a:ln w="12700">
            <a:solidFill>
              <a:srgbClr val="A8E6C1"/>
            </a:solidFill>
            <a:prstDash val="solid"/>
          </a:ln>
        </p:spPr>
      </p:sp>
      <p:sp>
        <p:nvSpPr>
          <p:cNvPr id="9" name="Text 7"/>
          <p:cNvSpPr/>
          <p:nvPr/>
        </p:nvSpPr>
        <p:spPr>
          <a:xfrm>
            <a:off x="822960" y="3749040"/>
            <a:ext cx="10515600" cy="109728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“Give me 5 ideas for improving customer service, as a numbered list, one sentence each.”</a:t>
            </a:r>
            <a:endParaRPr lang="en-US" sz="1500" dirty="0"/>
          </a:p>
        </p:txBody>
      </p:sp>
      <p:sp>
        <p:nvSpPr>
          <p:cNvPr id="10" name="Text 8"/>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22</a:t>
            </a:r>
            <a:endParaRPr lang="en-US" sz="1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MISTAKE IN ACTION</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Missing Tone</a:t>
            </a:r>
            <a:endParaRPr lang="en-US" sz="2600" dirty="0"/>
          </a:p>
        </p:txBody>
      </p:sp>
      <p:sp>
        <p:nvSpPr>
          <p:cNvPr id="4" name="Shape 2"/>
          <p:cNvSpPr/>
          <p:nvPr/>
        </p:nvSpPr>
        <p:spPr>
          <a:xfrm>
            <a:off x="548640" y="1554480"/>
            <a:ext cx="11064240" cy="1371600"/>
          </a:xfrm>
          <a:prstGeom prst="rect">
            <a:avLst/>
          </a:prstGeom>
          <a:solidFill>
            <a:srgbClr val="FDEDEC"/>
          </a:solidFill>
          <a:ln w="12700">
            <a:solidFill>
              <a:srgbClr val="F1B0AC"/>
            </a:solidFill>
            <a:prstDash val="solid"/>
          </a:ln>
        </p:spPr>
      </p:sp>
      <p:sp>
        <p:nvSpPr>
          <p:cNvPr id="5" name="Text 3"/>
          <p:cNvSpPr/>
          <p:nvPr/>
        </p:nvSpPr>
        <p:spPr>
          <a:xfrm>
            <a:off x="822960" y="1737360"/>
            <a:ext cx="10515600" cy="685800"/>
          </a:xfrm>
          <a:prstGeom prst="rect">
            <a:avLst/>
          </a:prstGeom>
          <a:noFill/>
          <a:ln/>
        </p:spPr>
        <p:txBody>
          <a:bodyPr wrap="square" rtlCol="0" anchor="ctr"/>
          <a:lstStyle/>
          <a:p>
            <a:pPr indent="0" marL="0">
              <a:buNone/>
            </a:pPr>
            <a:r>
              <a:rPr lang="en-US" sz="1600" i="1" dirty="0">
                <a:solidFill>
                  <a:srgbClr val="1E2761"/>
                </a:solidFill>
                <a:latin typeface="Cambria" pitchFamily="34" charset="0"/>
                <a:ea typeface="Cambria" pitchFamily="34" charset="-122"/>
                <a:cs typeface="Cambria" pitchFamily="34" charset="-120"/>
              </a:rPr>
              <a:t>“Write a message to a client whose payment is overdue.”</a:t>
            </a:r>
            <a:endParaRPr lang="en-US" sz="1600" dirty="0"/>
          </a:p>
        </p:txBody>
      </p:sp>
      <p:sp>
        <p:nvSpPr>
          <p:cNvPr id="6" name="Text 4"/>
          <p:cNvSpPr/>
          <p:nvPr/>
        </p:nvSpPr>
        <p:spPr>
          <a:xfrm>
            <a:off x="822960" y="2423160"/>
            <a:ext cx="10515600" cy="411480"/>
          </a:xfrm>
          <a:prstGeom prst="rect">
            <a:avLst/>
          </a:prstGeom>
          <a:noFill/>
          <a:ln/>
        </p:spPr>
        <p:txBody>
          <a:bodyPr wrap="square" rtlCol="0" anchor="ctr"/>
          <a:lstStyle/>
          <a:p>
            <a:pPr indent="0" marL="0">
              <a:buNone/>
            </a:pPr>
            <a:r>
              <a:rPr lang="en-US" sz="1250" dirty="0">
                <a:solidFill>
                  <a:srgbClr val="C0392B"/>
                </a:solidFill>
                <a:latin typeface="Calibri" pitchFamily="34" charset="0"/>
                <a:ea typeface="Calibri" pitchFamily="34" charset="-122"/>
                <a:cs typeface="Calibri" pitchFamily="34" charset="-120"/>
              </a:rPr>
              <a:t>Result: default tone can come across too harsh or too soft — a guess, not a choice.</a:t>
            </a:r>
            <a:endParaRPr lang="en-US" sz="1250" dirty="0"/>
          </a:p>
        </p:txBody>
      </p:sp>
      <p:sp>
        <p:nvSpPr>
          <p:cNvPr id="7" name="Text 5"/>
          <p:cNvSpPr/>
          <p:nvPr/>
        </p:nvSpPr>
        <p:spPr>
          <a:xfrm>
            <a:off x="548640" y="3200400"/>
            <a:ext cx="2743200" cy="274320"/>
          </a:xfrm>
          <a:prstGeom prst="rect">
            <a:avLst/>
          </a:prstGeom>
          <a:noFill/>
          <a:ln/>
        </p:spPr>
        <p:txBody>
          <a:bodyPr wrap="square" rtlCol="0" anchor="ctr"/>
          <a:lstStyle/>
          <a:p>
            <a:pPr indent="0" marL="0">
              <a:buNone/>
            </a:pPr>
            <a:r>
              <a:rPr lang="en-US" sz="1200" b="1" spc="150" kern="0" dirty="0">
                <a:solidFill>
                  <a:srgbClr val="6B7280"/>
                </a:solidFill>
                <a:latin typeface="Calibri" pitchFamily="34" charset="0"/>
                <a:ea typeface="Calibri" pitchFamily="34" charset="-122"/>
                <a:cs typeface="Calibri" pitchFamily="34" charset="-120"/>
              </a:rPr>
              <a:t>THE FIX</a:t>
            </a:r>
            <a:endParaRPr lang="en-US" sz="1200" dirty="0"/>
          </a:p>
        </p:txBody>
      </p:sp>
      <p:sp>
        <p:nvSpPr>
          <p:cNvPr id="8" name="Shape 6"/>
          <p:cNvSpPr/>
          <p:nvPr/>
        </p:nvSpPr>
        <p:spPr>
          <a:xfrm>
            <a:off x="548640" y="3520440"/>
            <a:ext cx="11064240" cy="1554480"/>
          </a:xfrm>
          <a:prstGeom prst="rect">
            <a:avLst/>
          </a:prstGeom>
          <a:solidFill>
            <a:srgbClr val="EAFBF1"/>
          </a:solidFill>
          <a:ln w="12700">
            <a:solidFill>
              <a:srgbClr val="A8E6C1"/>
            </a:solidFill>
            <a:prstDash val="solid"/>
          </a:ln>
        </p:spPr>
      </p:sp>
      <p:sp>
        <p:nvSpPr>
          <p:cNvPr id="9" name="Text 7"/>
          <p:cNvSpPr/>
          <p:nvPr/>
        </p:nvSpPr>
        <p:spPr>
          <a:xfrm>
            <a:off x="822960" y="3749040"/>
            <a:ext cx="10515600" cy="1097280"/>
          </a:xfrm>
          <a:prstGeom prst="rect">
            <a:avLst/>
          </a:prstGeom>
          <a:noFill/>
          <a:ln/>
        </p:spPr>
        <p:txBody>
          <a:bodyPr wrap="square" rtlCol="0" anchor="ctr"/>
          <a:lstStyle/>
          <a:p>
            <a:pPr indent="0" marL="0">
              <a:buNone/>
            </a:pPr>
            <a:r>
              <a:rPr lang="en-US" sz="1500" i="1" dirty="0">
                <a:solidFill>
                  <a:srgbClr val="1E2761"/>
                </a:solidFill>
                <a:latin typeface="Cambria" pitchFamily="34" charset="0"/>
                <a:ea typeface="Cambria" pitchFamily="34" charset="-122"/>
                <a:cs typeface="Cambria" pitchFamily="34" charset="-120"/>
              </a:rPr>
              <a:t>“Write a message to a client whose payment is overdue. Tone: firm but respectful, no threats, focused on resolving it together.”</a:t>
            </a:r>
            <a:endParaRPr lang="en-US" sz="1500" dirty="0"/>
          </a:p>
        </p:txBody>
      </p:sp>
      <p:sp>
        <p:nvSpPr>
          <p:cNvPr id="10" name="Text 8"/>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23</a:t>
            </a:r>
            <a:endParaRPr lang="en-US" sz="1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LIVE EXERCISE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Now You Rebuild the Prompts</a:t>
            </a:r>
            <a:endParaRPr lang="en-US" sz="3200" dirty="0"/>
          </a:p>
        </p:txBody>
      </p:sp>
      <p:sp>
        <p:nvSpPr>
          <p:cNvPr id="4" name="Shape 2"/>
          <p:cNvSpPr/>
          <p:nvPr/>
        </p:nvSpPr>
        <p:spPr>
          <a:xfrm>
            <a:off x="548640" y="1737360"/>
            <a:ext cx="457200" cy="457200"/>
          </a:xfrm>
          <a:prstGeom prst="ellipse">
            <a:avLst/>
          </a:prstGeom>
          <a:solidFill>
            <a:srgbClr val="F9A826"/>
          </a:solidFill>
          <a:ln/>
        </p:spPr>
      </p:sp>
      <p:sp>
        <p:nvSpPr>
          <p:cNvPr id="5" name="Text 3"/>
          <p:cNvSpPr/>
          <p:nvPr/>
        </p:nvSpPr>
        <p:spPr>
          <a:xfrm>
            <a:off x="548640" y="1737360"/>
            <a:ext cx="457200" cy="45720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234440" y="1691640"/>
            <a:ext cx="9601200" cy="54864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You'll get 3 weak prompts on the next slide</a:t>
            </a:r>
            <a:endParaRPr lang="en-US" sz="1600" dirty="0"/>
          </a:p>
        </p:txBody>
      </p:sp>
      <p:sp>
        <p:nvSpPr>
          <p:cNvPr id="7" name="Shape 5"/>
          <p:cNvSpPr/>
          <p:nvPr/>
        </p:nvSpPr>
        <p:spPr>
          <a:xfrm>
            <a:off x="548640" y="2560320"/>
            <a:ext cx="457200" cy="457200"/>
          </a:xfrm>
          <a:prstGeom prst="ellipse">
            <a:avLst/>
          </a:prstGeom>
          <a:solidFill>
            <a:srgbClr val="F9A826"/>
          </a:solidFill>
          <a:ln/>
        </p:spPr>
      </p:sp>
      <p:sp>
        <p:nvSpPr>
          <p:cNvPr id="8" name="Text 6"/>
          <p:cNvSpPr/>
          <p:nvPr/>
        </p:nvSpPr>
        <p:spPr>
          <a:xfrm>
            <a:off x="548640" y="2560320"/>
            <a:ext cx="457200" cy="45720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2</a:t>
            </a:r>
            <a:endParaRPr lang="en-US" sz="1800" dirty="0"/>
          </a:p>
        </p:txBody>
      </p:sp>
      <p:sp>
        <p:nvSpPr>
          <p:cNvPr id="9" name="Text 7"/>
          <p:cNvSpPr/>
          <p:nvPr/>
        </p:nvSpPr>
        <p:spPr>
          <a:xfrm>
            <a:off x="1234440" y="2514600"/>
            <a:ext cx="9601200" cy="54864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Rebuild each one using all 5 core elements</a:t>
            </a:r>
            <a:endParaRPr lang="en-US" sz="1600" dirty="0"/>
          </a:p>
        </p:txBody>
      </p:sp>
      <p:sp>
        <p:nvSpPr>
          <p:cNvPr id="10" name="Shape 8"/>
          <p:cNvSpPr/>
          <p:nvPr/>
        </p:nvSpPr>
        <p:spPr>
          <a:xfrm>
            <a:off x="548640" y="3383280"/>
            <a:ext cx="457200" cy="457200"/>
          </a:xfrm>
          <a:prstGeom prst="ellipse">
            <a:avLst/>
          </a:prstGeom>
          <a:solidFill>
            <a:srgbClr val="F9A826"/>
          </a:solidFill>
          <a:ln/>
        </p:spPr>
      </p:sp>
      <p:sp>
        <p:nvSpPr>
          <p:cNvPr id="11" name="Text 9"/>
          <p:cNvSpPr/>
          <p:nvPr/>
        </p:nvSpPr>
        <p:spPr>
          <a:xfrm>
            <a:off x="548640" y="3383280"/>
            <a:ext cx="457200" cy="457200"/>
          </a:xfrm>
          <a:prstGeom prst="rect">
            <a:avLst/>
          </a:prstGeom>
          <a:noFill/>
          <a:ln/>
        </p:spPr>
        <p:txBody>
          <a:bodyPr wrap="square" rtlCol="0" anchor="ctr"/>
          <a:lstStyle/>
          <a:p>
            <a:pPr algn="ctr" indent="0" marL="0">
              <a:buNone/>
            </a:pPr>
            <a:r>
              <a:rPr lang="en-US" sz="1800" b="1" dirty="0">
                <a:solidFill>
                  <a:srgbClr val="1E2761"/>
                </a:solidFill>
                <a:latin typeface="Cambria" pitchFamily="34" charset="0"/>
                <a:ea typeface="Cambria" pitchFamily="34" charset="-122"/>
                <a:cs typeface="Cambria" pitchFamily="34" charset="-120"/>
              </a:rPr>
              <a:t>3</a:t>
            </a:r>
            <a:endParaRPr lang="en-US" sz="1800" dirty="0"/>
          </a:p>
        </p:txBody>
      </p:sp>
      <p:sp>
        <p:nvSpPr>
          <p:cNvPr id="12" name="Text 10"/>
          <p:cNvSpPr/>
          <p:nvPr/>
        </p:nvSpPr>
        <p:spPr>
          <a:xfrm>
            <a:off x="1234440" y="3337560"/>
            <a:ext cx="9601200" cy="548640"/>
          </a:xfrm>
          <a:prstGeom prst="rect">
            <a:avLst/>
          </a:prstGeom>
          <a:noFill/>
          <a:ln/>
        </p:spPr>
        <p:txBody>
          <a:bodyPr wrap="square" rtlCol="0" anchor="ctr"/>
          <a:lstStyle/>
          <a:p>
            <a:pPr indent="0" marL="0">
              <a:buNone/>
            </a:pPr>
            <a:r>
              <a:rPr lang="en-US" sz="1600" dirty="0">
                <a:solidFill>
                  <a:srgbClr val="FFFFFF"/>
                </a:solidFill>
                <a:latin typeface="Calibri" pitchFamily="34" charset="0"/>
                <a:ea typeface="Calibri" pitchFamily="34" charset="-122"/>
                <a:cs typeface="Calibri" pitchFamily="34" charset="-120"/>
              </a:rPr>
              <a:t>We'll run a few live in the AI and compare results</a:t>
            </a:r>
            <a:endParaRPr lang="en-US" sz="160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4" name="Text 12"/>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LIVE EXERCISE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800" b="1" dirty="0">
                <a:solidFill>
                  <a:srgbClr val="1E2761"/>
                </a:solidFill>
                <a:latin typeface="Cambria" pitchFamily="34" charset="0"/>
                <a:ea typeface="Cambria" pitchFamily="34" charset="-122"/>
                <a:cs typeface="Cambria" pitchFamily="34" charset="-120"/>
              </a:rPr>
              <a:t>Rebuild These 3 Prompts</a:t>
            </a:r>
            <a:endParaRPr lang="en-US" sz="2800" dirty="0"/>
          </a:p>
        </p:txBody>
      </p:sp>
      <p:sp>
        <p:nvSpPr>
          <p:cNvPr id="4" name="Shape 2"/>
          <p:cNvSpPr/>
          <p:nvPr/>
        </p:nvSpPr>
        <p:spPr>
          <a:xfrm>
            <a:off x="548640" y="1691640"/>
            <a:ext cx="11064240" cy="1234440"/>
          </a:xfrm>
          <a:prstGeom prst="rect">
            <a:avLst/>
          </a:prstGeom>
          <a:solidFill>
            <a:srgbClr val="F7F8FC"/>
          </a:solidFill>
          <a:ln w="12700">
            <a:solidFill>
              <a:srgbClr val="E2E5F1"/>
            </a:solidFill>
            <a:prstDash val="solid"/>
          </a:ln>
        </p:spPr>
      </p:sp>
      <p:sp>
        <p:nvSpPr>
          <p:cNvPr id="5" name="Text 3"/>
          <p:cNvSpPr/>
          <p:nvPr/>
        </p:nvSpPr>
        <p:spPr>
          <a:xfrm>
            <a:off x="822960" y="1828800"/>
            <a:ext cx="3657600" cy="320040"/>
          </a:xfrm>
          <a:prstGeom prst="rect">
            <a:avLst/>
          </a:prstGeom>
          <a:noFill/>
          <a:ln/>
        </p:spPr>
        <p:txBody>
          <a:bodyPr wrap="square" rtlCol="0" anchor="ctr"/>
          <a:lstStyle/>
          <a:p>
            <a:pPr indent="0" marL="0">
              <a:buNone/>
            </a:pPr>
            <a:r>
              <a:rPr lang="en-US" sz="1200" b="1" spc="150" kern="0" dirty="0">
                <a:solidFill>
                  <a:srgbClr val="1E2761"/>
                </a:solidFill>
                <a:latin typeface="Calibri" pitchFamily="34" charset="0"/>
                <a:ea typeface="Calibri" pitchFamily="34" charset="-122"/>
                <a:cs typeface="Calibri" pitchFamily="34" charset="-120"/>
              </a:rPr>
              <a:t>EMAIL</a:t>
            </a:r>
            <a:endParaRPr lang="en-US" sz="1200" dirty="0"/>
          </a:p>
        </p:txBody>
      </p:sp>
      <p:sp>
        <p:nvSpPr>
          <p:cNvPr id="6" name="Text 4"/>
          <p:cNvSpPr/>
          <p:nvPr/>
        </p:nvSpPr>
        <p:spPr>
          <a:xfrm>
            <a:off x="822960" y="2148840"/>
            <a:ext cx="10332720" cy="640080"/>
          </a:xfrm>
          <a:prstGeom prst="rect">
            <a:avLst/>
          </a:prstGeom>
          <a:noFill/>
          <a:ln/>
        </p:spPr>
        <p:txBody>
          <a:bodyPr wrap="square"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“Write a follow-up email.”</a:t>
            </a:r>
            <a:endParaRPr lang="en-US" sz="1800" dirty="0"/>
          </a:p>
        </p:txBody>
      </p:sp>
      <p:sp>
        <p:nvSpPr>
          <p:cNvPr id="7" name="Shape 5"/>
          <p:cNvSpPr/>
          <p:nvPr/>
        </p:nvSpPr>
        <p:spPr>
          <a:xfrm>
            <a:off x="548640" y="3108960"/>
            <a:ext cx="11064240" cy="1234440"/>
          </a:xfrm>
          <a:prstGeom prst="rect">
            <a:avLst/>
          </a:prstGeom>
          <a:solidFill>
            <a:srgbClr val="FFFFFF"/>
          </a:solidFill>
          <a:ln w="12700">
            <a:solidFill>
              <a:srgbClr val="E2E5F1"/>
            </a:solidFill>
            <a:prstDash val="solid"/>
          </a:ln>
        </p:spPr>
      </p:sp>
      <p:sp>
        <p:nvSpPr>
          <p:cNvPr id="8" name="Text 6"/>
          <p:cNvSpPr/>
          <p:nvPr/>
        </p:nvSpPr>
        <p:spPr>
          <a:xfrm>
            <a:off x="822960" y="3246120"/>
            <a:ext cx="3657600" cy="320040"/>
          </a:xfrm>
          <a:prstGeom prst="rect">
            <a:avLst/>
          </a:prstGeom>
          <a:noFill/>
          <a:ln/>
        </p:spPr>
        <p:txBody>
          <a:bodyPr wrap="square" rtlCol="0" anchor="ctr"/>
          <a:lstStyle/>
          <a:p>
            <a:pPr indent="0" marL="0">
              <a:buNone/>
            </a:pPr>
            <a:r>
              <a:rPr lang="en-US" sz="1200" b="1" spc="150" kern="0" dirty="0">
                <a:solidFill>
                  <a:srgbClr val="1E2761"/>
                </a:solidFill>
                <a:latin typeface="Calibri" pitchFamily="34" charset="0"/>
                <a:ea typeface="Calibri" pitchFamily="34" charset="-122"/>
                <a:cs typeface="Calibri" pitchFamily="34" charset="-120"/>
              </a:rPr>
              <a:t>SOCIAL MEDIA</a:t>
            </a:r>
            <a:endParaRPr lang="en-US" sz="1200" dirty="0"/>
          </a:p>
        </p:txBody>
      </p:sp>
      <p:sp>
        <p:nvSpPr>
          <p:cNvPr id="9" name="Text 7"/>
          <p:cNvSpPr/>
          <p:nvPr/>
        </p:nvSpPr>
        <p:spPr>
          <a:xfrm>
            <a:off x="822960" y="3566160"/>
            <a:ext cx="10332720" cy="640080"/>
          </a:xfrm>
          <a:prstGeom prst="rect">
            <a:avLst/>
          </a:prstGeom>
          <a:noFill/>
          <a:ln/>
        </p:spPr>
        <p:txBody>
          <a:bodyPr wrap="square"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“Write a caption for a new product launch.”</a:t>
            </a:r>
            <a:endParaRPr lang="en-US" sz="1800" dirty="0"/>
          </a:p>
        </p:txBody>
      </p:sp>
      <p:sp>
        <p:nvSpPr>
          <p:cNvPr id="10" name="Shape 8"/>
          <p:cNvSpPr/>
          <p:nvPr/>
        </p:nvSpPr>
        <p:spPr>
          <a:xfrm>
            <a:off x="548640" y="4526280"/>
            <a:ext cx="11064240" cy="1234440"/>
          </a:xfrm>
          <a:prstGeom prst="rect">
            <a:avLst/>
          </a:prstGeom>
          <a:solidFill>
            <a:srgbClr val="F7F8FC"/>
          </a:solidFill>
          <a:ln w="12700">
            <a:solidFill>
              <a:srgbClr val="E2E5F1"/>
            </a:solidFill>
            <a:prstDash val="solid"/>
          </a:ln>
        </p:spPr>
      </p:sp>
      <p:sp>
        <p:nvSpPr>
          <p:cNvPr id="11" name="Text 9"/>
          <p:cNvSpPr/>
          <p:nvPr/>
        </p:nvSpPr>
        <p:spPr>
          <a:xfrm>
            <a:off x="822960" y="4663440"/>
            <a:ext cx="3657600" cy="320040"/>
          </a:xfrm>
          <a:prstGeom prst="rect">
            <a:avLst/>
          </a:prstGeom>
          <a:noFill/>
          <a:ln/>
        </p:spPr>
        <p:txBody>
          <a:bodyPr wrap="square" rtlCol="0" anchor="ctr"/>
          <a:lstStyle/>
          <a:p>
            <a:pPr indent="0" marL="0">
              <a:buNone/>
            </a:pPr>
            <a:r>
              <a:rPr lang="en-US" sz="1200" b="1" spc="150" kern="0" dirty="0">
                <a:solidFill>
                  <a:srgbClr val="1E2761"/>
                </a:solidFill>
                <a:latin typeface="Calibri" pitchFamily="34" charset="0"/>
                <a:ea typeface="Calibri" pitchFamily="34" charset="-122"/>
                <a:cs typeface="Calibri" pitchFamily="34" charset="-120"/>
              </a:rPr>
              <a:t>STUDY HELP</a:t>
            </a:r>
            <a:endParaRPr lang="en-US" sz="1200" dirty="0"/>
          </a:p>
        </p:txBody>
      </p:sp>
      <p:sp>
        <p:nvSpPr>
          <p:cNvPr id="12" name="Text 10"/>
          <p:cNvSpPr/>
          <p:nvPr/>
        </p:nvSpPr>
        <p:spPr>
          <a:xfrm>
            <a:off x="822960" y="4983480"/>
            <a:ext cx="10332720" cy="640080"/>
          </a:xfrm>
          <a:prstGeom prst="rect">
            <a:avLst/>
          </a:prstGeom>
          <a:noFill/>
          <a:ln/>
        </p:spPr>
        <p:txBody>
          <a:bodyPr wrap="square"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“Explain supply and demand.”</a:t>
            </a:r>
            <a:endParaRPr lang="en-US" sz="180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4" name="Text 12"/>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25</a:t>
            </a:r>
            <a:endParaRPr lang="en-US" sz="1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BEFORE / AFTER SHOWCASE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1 — Follow-Up Email, Rebuilt</a:t>
            </a:r>
            <a:endParaRPr lang="en-US" sz="2600" dirty="0"/>
          </a:p>
        </p:txBody>
      </p:sp>
      <p:sp>
        <p:nvSpPr>
          <p:cNvPr id="4" name="Shape 2"/>
          <p:cNvSpPr/>
          <p:nvPr/>
        </p:nvSpPr>
        <p:spPr>
          <a:xfrm>
            <a:off x="548640" y="1600200"/>
            <a:ext cx="5349240" cy="3657600"/>
          </a:xfrm>
          <a:prstGeom prst="rect">
            <a:avLst/>
          </a:prstGeom>
          <a:solidFill>
            <a:srgbClr val="FFFFFF"/>
          </a:solidFill>
          <a:ln w="12700">
            <a:solidFill>
              <a:srgbClr val="E2E5F1"/>
            </a:solidFill>
            <a:prstDash val="solid"/>
          </a:ln>
        </p:spPr>
      </p:sp>
      <p:sp>
        <p:nvSpPr>
          <p:cNvPr id="5" name="Text 3"/>
          <p:cNvSpPr/>
          <p:nvPr/>
        </p:nvSpPr>
        <p:spPr>
          <a:xfrm>
            <a:off x="822960" y="1783080"/>
            <a:ext cx="3657600" cy="320040"/>
          </a:xfrm>
          <a:prstGeom prst="rect">
            <a:avLst/>
          </a:prstGeom>
          <a:noFill/>
          <a:ln/>
        </p:spPr>
        <p:txBody>
          <a:bodyPr wrap="square" rtlCol="0" anchor="ctr"/>
          <a:lstStyle/>
          <a:p>
            <a:pPr indent="0" marL="0">
              <a:buNone/>
            </a:pPr>
            <a:r>
              <a:rPr lang="en-US" sz="1200" b="1" spc="150" kern="0" dirty="0">
                <a:solidFill>
                  <a:srgbClr val="6B7280"/>
                </a:solidFill>
                <a:latin typeface="Calibri" pitchFamily="34" charset="0"/>
                <a:ea typeface="Calibri" pitchFamily="34" charset="-122"/>
                <a:cs typeface="Calibri" pitchFamily="34" charset="-120"/>
              </a:rPr>
              <a:t>BEFORE</a:t>
            </a:r>
            <a:endParaRPr lang="en-US" sz="1200" dirty="0"/>
          </a:p>
        </p:txBody>
      </p:sp>
      <p:sp>
        <p:nvSpPr>
          <p:cNvPr id="6" name="Text 4"/>
          <p:cNvSpPr/>
          <p:nvPr/>
        </p:nvSpPr>
        <p:spPr>
          <a:xfrm>
            <a:off x="822960" y="2148840"/>
            <a:ext cx="4800600" cy="292608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“Write a follow-up email.”</a:t>
            </a:r>
            <a:endParaRPr lang="en-US" sz="1300" dirty="0"/>
          </a:p>
          <a:p>
            <a:pPr indent="0" marL="0">
              <a:buNone/>
            </a:pPr>
            <a:endParaRPr lang="en-US" sz="1300" dirty="0"/>
          </a:p>
          <a:p>
            <a:pPr indent="0" marL="0">
              <a:buNone/>
            </a:pPr>
            <a:r>
              <a:rPr lang="en-US" sz="1300" dirty="0">
                <a:solidFill>
                  <a:srgbClr val="3A3A3A"/>
                </a:solidFill>
                <a:latin typeface="Calibri" pitchFamily="34" charset="0"/>
                <a:ea typeface="Calibri" pitchFamily="34" charset="-122"/>
                <a:cs typeface="Calibri" pitchFamily="34" charset="-120"/>
              </a:rPr>
              <a:t>No context, no task detail, no format, no tone, no constraints.</a:t>
            </a:r>
            <a:endParaRPr lang="en-US" sz="1300" dirty="0"/>
          </a:p>
        </p:txBody>
      </p:sp>
      <p:sp>
        <p:nvSpPr>
          <p:cNvPr id="7" name="Shape 5"/>
          <p:cNvSpPr/>
          <p:nvPr/>
        </p:nvSpPr>
        <p:spPr>
          <a:xfrm>
            <a:off x="6263640" y="1600200"/>
            <a:ext cx="5349240" cy="3657600"/>
          </a:xfrm>
          <a:prstGeom prst="rect">
            <a:avLst/>
          </a:prstGeom>
          <a:solidFill>
            <a:srgbClr val="1E2761"/>
          </a:solidFill>
          <a:ln/>
        </p:spPr>
      </p:sp>
      <p:sp>
        <p:nvSpPr>
          <p:cNvPr id="8" name="Text 6"/>
          <p:cNvSpPr/>
          <p:nvPr/>
        </p:nvSpPr>
        <p:spPr>
          <a:xfrm>
            <a:off x="6537960" y="1783080"/>
            <a:ext cx="3657600" cy="320040"/>
          </a:xfrm>
          <a:prstGeom prst="rect">
            <a:avLst/>
          </a:prstGeom>
          <a:noFill/>
          <a:ln/>
        </p:spPr>
        <p:txBody>
          <a:bodyPr wrap="square" rtlCol="0" anchor="ctr"/>
          <a:lstStyle/>
          <a:p>
            <a:pPr indent="0" marL="0">
              <a:buNone/>
            </a:pPr>
            <a:r>
              <a:rPr lang="en-US" sz="1200" b="1" spc="150" kern="0" dirty="0">
                <a:solidFill>
                  <a:srgbClr val="F9A826"/>
                </a:solidFill>
                <a:latin typeface="Calibri" pitchFamily="34" charset="0"/>
                <a:ea typeface="Calibri" pitchFamily="34" charset="-122"/>
                <a:cs typeface="Calibri" pitchFamily="34" charset="-120"/>
              </a:rPr>
              <a:t>AFTER</a:t>
            </a:r>
            <a:endParaRPr lang="en-US" sz="1200" dirty="0"/>
          </a:p>
        </p:txBody>
      </p:sp>
      <p:sp>
        <p:nvSpPr>
          <p:cNvPr id="9" name="Text 7"/>
          <p:cNvSpPr/>
          <p:nvPr/>
        </p:nvSpPr>
        <p:spPr>
          <a:xfrm>
            <a:off x="6537960" y="2148840"/>
            <a:ext cx="4800600" cy="2926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“I'm following up with a client who hasn't responded in a week about a proposal. Write a short, polite follow-up email, under 60 words, friendly but professional tone, ending with a simple yes/no question.”</a:t>
            </a:r>
            <a:endParaRPr lang="en-US" sz="1300" dirty="0"/>
          </a:p>
        </p:txBody>
      </p:sp>
      <p:sp>
        <p:nvSpPr>
          <p:cNvPr id="10" name="Text 8"/>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26</a:t>
            </a:r>
            <a:endParaRPr lang="en-US" sz="10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8FC"/>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BEFORE / AFTER SHOWCASE</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2600" b="1" dirty="0">
                <a:solidFill>
                  <a:srgbClr val="1E2761"/>
                </a:solidFill>
                <a:latin typeface="Cambria" pitchFamily="34" charset="0"/>
                <a:ea typeface="Cambria" pitchFamily="34" charset="-122"/>
                <a:cs typeface="Cambria" pitchFamily="34" charset="-120"/>
              </a:rPr>
              <a:t>2 — Product Launch Caption, Rebuilt</a:t>
            </a:r>
            <a:endParaRPr lang="en-US" sz="2600" dirty="0"/>
          </a:p>
        </p:txBody>
      </p:sp>
      <p:sp>
        <p:nvSpPr>
          <p:cNvPr id="4" name="Shape 2"/>
          <p:cNvSpPr/>
          <p:nvPr/>
        </p:nvSpPr>
        <p:spPr>
          <a:xfrm>
            <a:off x="548640" y="1600200"/>
            <a:ext cx="5349240" cy="3657600"/>
          </a:xfrm>
          <a:prstGeom prst="rect">
            <a:avLst/>
          </a:prstGeom>
          <a:solidFill>
            <a:srgbClr val="FFFFFF"/>
          </a:solidFill>
          <a:ln w="12700">
            <a:solidFill>
              <a:srgbClr val="E2E5F1"/>
            </a:solidFill>
            <a:prstDash val="solid"/>
          </a:ln>
        </p:spPr>
      </p:sp>
      <p:sp>
        <p:nvSpPr>
          <p:cNvPr id="5" name="Text 3"/>
          <p:cNvSpPr/>
          <p:nvPr/>
        </p:nvSpPr>
        <p:spPr>
          <a:xfrm>
            <a:off x="822960" y="1783080"/>
            <a:ext cx="3657600" cy="320040"/>
          </a:xfrm>
          <a:prstGeom prst="rect">
            <a:avLst/>
          </a:prstGeom>
          <a:noFill/>
          <a:ln/>
        </p:spPr>
        <p:txBody>
          <a:bodyPr wrap="square" rtlCol="0" anchor="ctr"/>
          <a:lstStyle/>
          <a:p>
            <a:pPr indent="0" marL="0">
              <a:buNone/>
            </a:pPr>
            <a:r>
              <a:rPr lang="en-US" sz="1200" b="1" spc="150" kern="0" dirty="0">
                <a:solidFill>
                  <a:srgbClr val="6B7280"/>
                </a:solidFill>
                <a:latin typeface="Calibri" pitchFamily="34" charset="0"/>
                <a:ea typeface="Calibri" pitchFamily="34" charset="-122"/>
                <a:cs typeface="Calibri" pitchFamily="34" charset="-120"/>
              </a:rPr>
              <a:t>BEFORE</a:t>
            </a:r>
            <a:endParaRPr lang="en-US" sz="1200" dirty="0"/>
          </a:p>
        </p:txBody>
      </p:sp>
      <p:sp>
        <p:nvSpPr>
          <p:cNvPr id="6" name="Text 4"/>
          <p:cNvSpPr/>
          <p:nvPr/>
        </p:nvSpPr>
        <p:spPr>
          <a:xfrm>
            <a:off x="822960" y="2148840"/>
            <a:ext cx="4800600" cy="2926080"/>
          </a:xfrm>
          <a:prstGeom prst="rect">
            <a:avLst/>
          </a:prstGeom>
          <a:noFill/>
          <a:ln/>
        </p:spPr>
        <p:txBody>
          <a:bodyPr wrap="square" rtlCol="0" anchor="ctr"/>
          <a:lstStyle/>
          <a:p>
            <a:pPr indent="0" marL="0">
              <a:buNone/>
            </a:pPr>
            <a:r>
              <a:rPr lang="en-US" sz="1300" dirty="0">
                <a:solidFill>
                  <a:srgbClr val="3A3A3A"/>
                </a:solidFill>
                <a:latin typeface="Calibri" pitchFamily="34" charset="0"/>
                <a:ea typeface="Calibri" pitchFamily="34" charset="-122"/>
                <a:cs typeface="Calibri" pitchFamily="34" charset="-120"/>
              </a:rPr>
              <a:t>“Write a caption for a new product launch.”</a:t>
            </a:r>
            <a:endParaRPr lang="en-US" sz="1300" dirty="0"/>
          </a:p>
          <a:p>
            <a:pPr indent="0" marL="0">
              <a:buNone/>
            </a:pPr>
            <a:endParaRPr lang="en-US" sz="1300" dirty="0"/>
          </a:p>
          <a:p>
            <a:pPr indent="0" marL="0">
              <a:buNone/>
            </a:pPr>
            <a:r>
              <a:rPr lang="en-US" sz="1300" dirty="0">
                <a:solidFill>
                  <a:srgbClr val="3A3A3A"/>
                </a:solidFill>
                <a:latin typeface="Calibri" pitchFamily="34" charset="0"/>
                <a:ea typeface="Calibri" pitchFamily="34" charset="-122"/>
                <a:cs typeface="Calibri" pitchFamily="34" charset="-120"/>
              </a:rPr>
              <a:t>No product details, no platform, no tone, no length limit.</a:t>
            </a:r>
            <a:endParaRPr lang="en-US" sz="1300" dirty="0"/>
          </a:p>
        </p:txBody>
      </p:sp>
      <p:sp>
        <p:nvSpPr>
          <p:cNvPr id="7" name="Shape 5"/>
          <p:cNvSpPr/>
          <p:nvPr/>
        </p:nvSpPr>
        <p:spPr>
          <a:xfrm>
            <a:off x="6263640" y="1600200"/>
            <a:ext cx="5349240" cy="3657600"/>
          </a:xfrm>
          <a:prstGeom prst="rect">
            <a:avLst/>
          </a:prstGeom>
          <a:solidFill>
            <a:srgbClr val="1E2761"/>
          </a:solidFill>
          <a:ln/>
        </p:spPr>
      </p:sp>
      <p:sp>
        <p:nvSpPr>
          <p:cNvPr id="8" name="Text 6"/>
          <p:cNvSpPr/>
          <p:nvPr/>
        </p:nvSpPr>
        <p:spPr>
          <a:xfrm>
            <a:off x="6537960" y="1783080"/>
            <a:ext cx="3657600" cy="320040"/>
          </a:xfrm>
          <a:prstGeom prst="rect">
            <a:avLst/>
          </a:prstGeom>
          <a:noFill/>
          <a:ln/>
        </p:spPr>
        <p:txBody>
          <a:bodyPr wrap="square" rtlCol="0" anchor="ctr"/>
          <a:lstStyle/>
          <a:p>
            <a:pPr indent="0" marL="0">
              <a:buNone/>
            </a:pPr>
            <a:r>
              <a:rPr lang="en-US" sz="1200" b="1" spc="150" kern="0" dirty="0">
                <a:solidFill>
                  <a:srgbClr val="F9A826"/>
                </a:solidFill>
                <a:latin typeface="Calibri" pitchFamily="34" charset="0"/>
                <a:ea typeface="Calibri" pitchFamily="34" charset="-122"/>
                <a:cs typeface="Calibri" pitchFamily="34" charset="-120"/>
              </a:rPr>
              <a:t>AFTER</a:t>
            </a:r>
            <a:endParaRPr lang="en-US" sz="1200" dirty="0"/>
          </a:p>
        </p:txBody>
      </p:sp>
      <p:sp>
        <p:nvSpPr>
          <p:cNvPr id="9" name="Text 7"/>
          <p:cNvSpPr/>
          <p:nvPr/>
        </p:nvSpPr>
        <p:spPr>
          <a:xfrm>
            <a:off x="6537960" y="2148840"/>
            <a:ext cx="4800600" cy="292608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“Write an Instagram caption announcing a new skincare serum launch. Exciting, confident tone, under 120 characters, include one relevant emoji and a call-to-action to shop now.”</a:t>
            </a:r>
            <a:endParaRPr lang="en-US" sz="1300" dirty="0"/>
          </a:p>
        </p:txBody>
      </p:sp>
      <p:sp>
        <p:nvSpPr>
          <p:cNvPr id="10" name="Text 8"/>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1" name="Text 9"/>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27</a:t>
            </a:r>
            <a:endParaRPr lang="en-US" sz="1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IN-CLASS TASK</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Build One Complete Prompt</a:t>
            </a:r>
            <a:endParaRPr lang="en-US" sz="3200" dirty="0"/>
          </a:p>
        </p:txBody>
      </p:sp>
      <p:sp>
        <p:nvSpPr>
          <p:cNvPr id="4" name="Shape 2"/>
          <p:cNvSpPr/>
          <p:nvPr/>
        </p:nvSpPr>
        <p:spPr>
          <a:xfrm>
            <a:off x="548640" y="1600200"/>
            <a:ext cx="11064240" cy="3017520"/>
          </a:xfrm>
          <a:prstGeom prst="rect">
            <a:avLst/>
          </a:prstGeom>
          <a:solidFill>
            <a:srgbClr val="F7F8FC"/>
          </a:solidFill>
          <a:ln w="12700">
            <a:solidFill>
              <a:srgbClr val="E2E5F1"/>
            </a:solidFill>
            <a:prstDash val="solid"/>
          </a:ln>
        </p:spPr>
      </p:sp>
      <p:sp>
        <p:nvSpPr>
          <p:cNvPr id="5" name="Text 3"/>
          <p:cNvSpPr/>
          <p:nvPr/>
        </p:nvSpPr>
        <p:spPr>
          <a:xfrm>
            <a:off x="914400" y="1874520"/>
            <a:ext cx="457200" cy="548640"/>
          </a:xfrm>
          <a:prstGeom prst="rect">
            <a:avLst/>
          </a:prstGeom>
          <a:noFill/>
          <a:ln/>
        </p:spPr>
        <p:txBody>
          <a:bodyPr wrap="square" rtlCol="0" anchor="ctr"/>
          <a:lstStyle/>
          <a:p>
            <a:pPr indent="0" marL="0">
              <a:buNone/>
            </a:pPr>
            <a:r>
              <a:rPr lang="en-US" sz="1800" b="1" dirty="0">
                <a:solidFill>
                  <a:srgbClr val="F9A826"/>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463040" y="1874520"/>
            <a:ext cx="9784080" cy="548640"/>
          </a:xfrm>
          <a:prstGeom prst="rect">
            <a:avLst/>
          </a:prstGeom>
          <a:noFill/>
          <a:ln/>
        </p:spPr>
        <p:txBody>
          <a:bodyPr wrap="square" rtlCol="0" anchor="ctr"/>
          <a:lstStyle/>
          <a:p>
            <a:pPr indent="0" marL="0">
              <a:buNone/>
            </a:pPr>
            <a:r>
              <a:rPr lang="en-US" sz="1600" dirty="0">
                <a:solidFill>
                  <a:srgbClr val="1E2761"/>
                </a:solidFill>
                <a:latin typeface="Calibri" pitchFamily="34" charset="0"/>
                <a:ea typeface="Calibri" pitchFamily="34" charset="-122"/>
                <a:cs typeface="Calibri" pitchFamily="34" charset="-120"/>
              </a:rPr>
              <a:t>Pick any topic relevant to your own work, studies, or interests</a:t>
            </a:r>
            <a:endParaRPr lang="en-US" sz="1600" dirty="0"/>
          </a:p>
        </p:txBody>
      </p:sp>
      <p:sp>
        <p:nvSpPr>
          <p:cNvPr id="7" name="Text 5"/>
          <p:cNvSpPr/>
          <p:nvPr/>
        </p:nvSpPr>
        <p:spPr>
          <a:xfrm>
            <a:off x="914400" y="2560320"/>
            <a:ext cx="457200" cy="548640"/>
          </a:xfrm>
          <a:prstGeom prst="rect">
            <a:avLst/>
          </a:prstGeom>
          <a:noFill/>
          <a:ln/>
        </p:spPr>
        <p:txBody>
          <a:bodyPr wrap="square" rtlCol="0" anchor="ctr"/>
          <a:lstStyle/>
          <a:p>
            <a:pPr indent="0" marL="0">
              <a:buNone/>
            </a:pPr>
            <a:r>
              <a:rPr lang="en-US" sz="1800" b="1" dirty="0">
                <a:solidFill>
                  <a:srgbClr val="F9A826"/>
                </a:solidFill>
                <a:latin typeface="Cambria" pitchFamily="34" charset="0"/>
                <a:ea typeface="Cambria" pitchFamily="34" charset="-122"/>
                <a:cs typeface="Cambria" pitchFamily="34" charset="-120"/>
              </a:rPr>
              <a:t>2.</a:t>
            </a:r>
            <a:endParaRPr lang="en-US" sz="1800" dirty="0"/>
          </a:p>
        </p:txBody>
      </p:sp>
      <p:sp>
        <p:nvSpPr>
          <p:cNvPr id="8" name="Text 6"/>
          <p:cNvSpPr/>
          <p:nvPr/>
        </p:nvSpPr>
        <p:spPr>
          <a:xfrm>
            <a:off x="1463040" y="2560320"/>
            <a:ext cx="9784080" cy="548640"/>
          </a:xfrm>
          <a:prstGeom prst="rect">
            <a:avLst/>
          </a:prstGeom>
          <a:noFill/>
          <a:ln/>
        </p:spPr>
        <p:txBody>
          <a:bodyPr wrap="square" rtlCol="0" anchor="ctr"/>
          <a:lstStyle/>
          <a:p>
            <a:pPr indent="0" marL="0">
              <a:buNone/>
            </a:pPr>
            <a:r>
              <a:rPr lang="en-US" sz="1600" dirty="0">
                <a:solidFill>
                  <a:srgbClr val="1E2761"/>
                </a:solidFill>
                <a:latin typeface="Calibri" pitchFamily="34" charset="0"/>
                <a:ea typeface="Calibri" pitchFamily="34" charset="-122"/>
                <a:cs typeface="Calibri" pitchFamily="34" charset="-120"/>
              </a:rPr>
              <a:t>Write one complete prompt using all 5 core elements</a:t>
            </a:r>
            <a:endParaRPr lang="en-US" sz="1600" dirty="0"/>
          </a:p>
        </p:txBody>
      </p:sp>
      <p:sp>
        <p:nvSpPr>
          <p:cNvPr id="9" name="Text 7"/>
          <p:cNvSpPr/>
          <p:nvPr/>
        </p:nvSpPr>
        <p:spPr>
          <a:xfrm>
            <a:off x="914400" y="3246120"/>
            <a:ext cx="457200" cy="548640"/>
          </a:xfrm>
          <a:prstGeom prst="rect">
            <a:avLst/>
          </a:prstGeom>
          <a:noFill/>
          <a:ln/>
        </p:spPr>
        <p:txBody>
          <a:bodyPr wrap="square" rtlCol="0" anchor="ctr"/>
          <a:lstStyle/>
          <a:p>
            <a:pPr indent="0" marL="0">
              <a:buNone/>
            </a:pPr>
            <a:r>
              <a:rPr lang="en-US" sz="1800" b="1" dirty="0">
                <a:solidFill>
                  <a:srgbClr val="F9A826"/>
                </a:solidFill>
                <a:latin typeface="Cambria" pitchFamily="34" charset="0"/>
                <a:ea typeface="Cambria" pitchFamily="34" charset="-122"/>
                <a:cs typeface="Cambria" pitchFamily="34" charset="-120"/>
              </a:rPr>
              <a:t>3.</a:t>
            </a:r>
            <a:endParaRPr lang="en-US" sz="1800" dirty="0"/>
          </a:p>
        </p:txBody>
      </p:sp>
      <p:sp>
        <p:nvSpPr>
          <p:cNvPr id="10" name="Text 8"/>
          <p:cNvSpPr/>
          <p:nvPr/>
        </p:nvSpPr>
        <p:spPr>
          <a:xfrm>
            <a:off x="1463040" y="3246120"/>
            <a:ext cx="9784080" cy="548640"/>
          </a:xfrm>
          <a:prstGeom prst="rect">
            <a:avLst/>
          </a:prstGeom>
          <a:noFill/>
          <a:ln/>
        </p:spPr>
        <p:txBody>
          <a:bodyPr wrap="square" rtlCol="0" anchor="ctr"/>
          <a:lstStyle/>
          <a:p>
            <a:pPr indent="0" marL="0">
              <a:buNone/>
            </a:pPr>
            <a:r>
              <a:rPr lang="en-US" sz="1600" dirty="0">
                <a:solidFill>
                  <a:srgbClr val="1E2761"/>
                </a:solidFill>
                <a:latin typeface="Calibri" pitchFamily="34" charset="0"/>
                <a:ea typeface="Calibri" pitchFamily="34" charset="-122"/>
                <a:cs typeface="Calibri" pitchFamily="34" charset="-120"/>
              </a:rPr>
              <a:t>Make sure each element is clearly identifiable in your prompt</a:t>
            </a:r>
            <a:endParaRPr lang="en-US" sz="1600" dirty="0"/>
          </a:p>
        </p:txBody>
      </p:sp>
      <p:sp>
        <p:nvSpPr>
          <p:cNvPr id="11" name="Text 9"/>
          <p:cNvSpPr/>
          <p:nvPr/>
        </p:nvSpPr>
        <p:spPr>
          <a:xfrm>
            <a:off x="914400" y="3931920"/>
            <a:ext cx="457200" cy="548640"/>
          </a:xfrm>
          <a:prstGeom prst="rect">
            <a:avLst/>
          </a:prstGeom>
          <a:noFill/>
          <a:ln/>
        </p:spPr>
        <p:txBody>
          <a:bodyPr wrap="square" rtlCol="0" anchor="ctr"/>
          <a:lstStyle/>
          <a:p>
            <a:pPr indent="0" marL="0">
              <a:buNone/>
            </a:pPr>
            <a:r>
              <a:rPr lang="en-US" sz="1800" b="1" dirty="0">
                <a:solidFill>
                  <a:srgbClr val="F9A826"/>
                </a:solidFill>
                <a:latin typeface="Cambria" pitchFamily="34" charset="0"/>
                <a:ea typeface="Cambria" pitchFamily="34" charset="-122"/>
                <a:cs typeface="Cambria" pitchFamily="34" charset="-120"/>
              </a:rPr>
              <a:t>4.</a:t>
            </a:r>
            <a:endParaRPr lang="en-US" sz="1800" dirty="0"/>
          </a:p>
        </p:txBody>
      </p:sp>
      <p:sp>
        <p:nvSpPr>
          <p:cNvPr id="12" name="Text 10"/>
          <p:cNvSpPr/>
          <p:nvPr/>
        </p:nvSpPr>
        <p:spPr>
          <a:xfrm>
            <a:off x="1463040" y="3931920"/>
            <a:ext cx="9784080" cy="548640"/>
          </a:xfrm>
          <a:prstGeom prst="rect">
            <a:avLst/>
          </a:prstGeom>
          <a:noFill/>
          <a:ln/>
        </p:spPr>
        <p:txBody>
          <a:bodyPr wrap="square" rtlCol="0" anchor="ctr"/>
          <a:lstStyle/>
          <a:p>
            <a:pPr indent="0" marL="0">
              <a:buNone/>
            </a:pPr>
            <a:r>
              <a:rPr lang="en-US" sz="1600" dirty="0">
                <a:solidFill>
                  <a:srgbClr val="1E2761"/>
                </a:solidFill>
                <a:latin typeface="Calibri" pitchFamily="34" charset="0"/>
                <a:ea typeface="Calibri" pitchFamily="34" charset="-122"/>
                <a:cs typeface="Calibri" pitchFamily="34" charset="-120"/>
              </a:rPr>
              <a:t>Share it with the group — we'll test a few live and discuss the output</a:t>
            </a:r>
            <a:endParaRPr lang="en-US" sz="1600" dirty="0"/>
          </a:p>
        </p:txBody>
      </p:sp>
      <p:sp>
        <p:nvSpPr>
          <p:cNvPr id="13" name="Text 11"/>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4" name="Text 12"/>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28</a:t>
            </a:r>
            <a:endParaRPr lang="en-US" sz="10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1E2761"/>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FFFFF"/>
                </a:solidFill>
                <a:latin typeface="Calibri" pitchFamily="34" charset="0"/>
                <a:ea typeface="Calibri" pitchFamily="34" charset="-122"/>
                <a:cs typeface="Calibri" pitchFamily="34" charset="-120"/>
              </a:rPr>
              <a:t>HOMEWORK</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Before Next Class</a:t>
            </a:r>
            <a:endParaRPr lang="en-US" sz="3200" dirty="0"/>
          </a:p>
        </p:txBody>
      </p:sp>
      <p:sp>
        <p:nvSpPr>
          <p:cNvPr id="4" name="Shape 2"/>
          <p:cNvSpPr/>
          <p:nvPr/>
        </p:nvSpPr>
        <p:spPr>
          <a:xfrm>
            <a:off x="548640" y="1554480"/>
            <a:ext cx="11064240" cy="3108960"/>
          </a:xfrm>
          <a:prstGeom prst="rect">
            <a:avLst/>
          </a:prstGeom>
          <a:solidFill>
            <a:srgbClr val="273270"/>
          </a:solidFill>
          <a:ln/>
        </p:spPr>
      </p:sp>
      <p:sp>
        <p:nvSpPr>
          <p:cNvPr id="5" name="Shape 3"/>
          <p:cNvSpPr/>
          <p:nvPr/>
        </p:nvSpPr>
        <p:spPr>
          <a:xfrm>
            <a:off x="914400" y="1828800"/>
            <a:ext cx="411480" cy="411480"/>
          </a:xfrm>
          <a:prstGeom prst="ellipse">
            <a:avLst/>
          </a:prstGeom>
          <a:solidFill>
            <a:srgbClr val="F9A826"/>
          </a:solidFill>
          <a:ln/>
        </p:spPr>
      </p:sp>
      <p:sp>
        <p:nvSpPr>
          <p:cNvPr id="6" name="Text 4"/>
          <p:cNvSpPr/>
          <p:nvPr/>
        </p:nvSpPr>
        <p:spPr>
          <a:xfrm>
            <a:off x="914400" y="1828800"/>
            <a:ext cx="411480" cy="41148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1</a:t>
            </a:r>
            <a:endParaRPr lang="en-US" sz="1500" dirty="0"/>
          </a:p>
        </p:txBody>
      </p:sp>
      <p:sp>
        <p:nvSpPr>
          <p:cNvPr id="7" name="Text 5"/>
          <p:cNvSpPr/>
          <p:nvPr/>
        </p:nvSpPr>
        <p:spPr>
          <a:xfrm>
            <a:off x="1508760" y="1783080"/>
            <a:ext cx="9601200" cy="5486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Write 5 different prompts on topics of your choice</a:t>
            </a:r>
            <a:endParaRPr lang="en-US" sz="1500" dirty="0"/>
          </a:p>
        </p:txBody>
      </p:sp>
      <p:sp>
        <p:nvSpPr>
          <p:cNvPr id="8" name="Shape 6"/>
          <p:cNvSpPr/>
          <p:nvPr/>
        </p:nvSpPr>
        <p:spPr>
          <a:xfrm>
            <a:off x="914400" y="2514600"/>
            <a:ext cx="411480" cy="411480"/>
          </a:xfrm>
          <a:prstGeom prst="ellipse">
            <a:avLst/>
          </a:prstGeom>
          <a:solidFill>
            <a:srgbClr val="F9A826"/>
          </a:solidFill>
          <a:ln/>
        </p:spPr>
      </p:sp>
      <p:sp>
        <p:nvSpPr>
          <p:cNvPr id="9" name="Text 7"/>
          <p:cNvSpPr/>
          <p:nvPr/>
        </p:nvSpPr>
        <p:spPr>
          <a:xfrm>
            <a:off x="914400" y="2514600"/>
            <a:ext cx="411480" cy="41148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2</a:t>
            </a:r>
            <a:endParaRPr lang="en-US" sz="1500" dirty="0"/>
          </a:p>
        </p:txBody>
      </p:sp>
      <p:sp>
        <p:nvSpPr>
          <p:cNvPr id="10" name="Text 8"/>
          <p:cNvSpPr/>
          <p:nvPr/>
        </p:nvSpPr>
        <p:spPr>
          <a:xfrm>
            <a:off x="1508760" y="2468880"/>
            <a:ext cx="9601200" cy="5486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Each prompt must clearly include all 5 core elements</a:t>
            </a:r>
            <a:endParaRPr lang="en-US" sz="1500" dirty="0"/>
          </a:p>
        </p:txBody>
      </p:sp>
      <p:sp>
        <p:nvSpPr>
          <p:cNvPr id="11" name="Shape 9"/>
          <p:cNvSpPr/>
          <p:nvPr/>
        </p:nvSpPr>
        <p:spPr>
          <a:xfrm>
            <a:off x="914400" y="3200400"/>
            <a:ext cx="411480" cy="411480"/>
          </a:xfrm>
          <a:prstGeom prst="ellipse">
            <a:avLst/>
          </a:prstGeom>
          <a:solidFill>
            <a:srgbClr val="F9A826"/>
          </a:solidFill>
          <a:ln/>
        </p:spPr>
      </p:sp>
      <p:sp>
        <p:nvSpPr>
          <p:cNvPr id="12" name="Text 10"/>
          <p:cNvSpPr/>
          <p:nvPr/>
        </p:nvSpPr>
        <p:spPr>
          <a:xfrm>
            <a:off x="914400" y="3200400"/>
            <a:ext cx="411480" cy="41148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3</a:t>
            </a:r>
            <a:endParaRPr lang="en-US" sz="1500" dirty="0"/>
          </a:p>
        </p:txBody>
      </p:sp>
      <p:sp>
        <p:nvSpPr>
          <p:cNvPr id="13" name="Text 11"/>
          <p:cNvSpPr/>
          <p:nvPr/>
        </p:nvSpPr>
        <p:spPr>
          <a:xfrm>
            <a:off x="1508760" y="3154680"/>
            <a:ext cx="9601200" cy="5486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Test each one and note whether the output matched your expectation</a:t>
            </a:r>
            <a:endParaRPr lang="en-US" sz="1500" dirty="0"/>
          </a:p>
        </p:txBody>
      </p:sp>
      <p:sp>
        <p:nvSpPr>
          <p:cNvPr id="14" name="Shape 12"/>
          <p:cNvSpPr/>
          <p:nvPr/>
        </p:nvSpPr>
        <p:spPr>
          <a:xfrm>
            <a:off x="914400" y="3886200"/>
            <a:ext cx="411480" cy="411480"/>
          </a:xfrm>
          <a:prstGeom prst="ellipse">
            <a:avLst/>
          </a:prstGeom>
          <a:solidFill>
            <a:srgbClr val="F9A826"/>
          </a:solidFill>
          <a:ln/>
        </p:spPr>
      </p:sp>
      <p:sp>
        <p:nvSpPr>
          <p:cNvPr id="15" name="Text 13"/>
          <p:cNvSpPr/>
          <p:nvPr/>
        </p:nvSpPr>
        <p:spPr>
          <a:xfrm>
            <a:off x="914400" y="3886200"/>
            <a:ext cx="411480" cy="411480"/>
          </a:xfrm>
          <a:prstGeom prst="rect">
            <a:avLst/>
          </a:prstGeom>
          <a:noFill/>
          <a:ln/>
        </p:spPr>
        <p:txBody>
          <a:bodyPr wrap="square" rtlCol="0" anchor="ctr"/>
          <a:lstStyle/>
          <a:p>
            <a:pPr algn="ctr" indent="0" marL="0">
              <a:buNone/>
            </a:pPr>
            <a:r>
              <a:rPr lang="en-US" sz="1500" b="1" dirty="0">
                <a:solidFill>
                  <a:srgbClr val="1E2761"/>
                </a:solidFill>
                <a:latin typeface="Cambria" pitchFamily="34" charset="0"/>
                <a:ea typeface="Cambria" pitchFamily="34" charset="-122"/>
                <a:cs typeface="Cambria" pitchFamily="34" charset="-120"/>
              </a:rPr>
              <a:t>4</a:t>
            </a:r>
            <a:endParaRPr lang="en-US" sz="1500" dirty="0"/>
          </a:p>
        </p:txBody>
      </p:sp>
      <p:sp>
        <p:nvSpPr>
          <p:cNvPr id="16" name="Text 14"/>
          <p:cNvSpPr/>
          <p:nvPr/>
        </p:nvSpPr>
        <p:spPr>
          <a:xfrm>
            <a:off x="1508760" y="3840480"/>
            <a:ext cx="9601200" cy="548640"/>
          </a:xfrm>
          <a:prstGeom prst="rect">
            <a:avLst/>
          </a:prstGeom>
          <a:noFill/>
          <a:ln/>
        </p:spPr>
        <p:txBody>
          <a:bodyPr wrap="square"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Submit before the next session via WhatsApp / email</a:t>
            </a:r>
            <a:endParaRPr lang="en-US" sz="1500" dirty="0"/>
          </a:p>
        </p:txBody>
      </p:sp>
      <p:sp>
        <p:nvSpPr>
          <p:cNvPr id="17" name="Text 15"/>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8" name="Text 16"/>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29</a:t>
            </a:r>
            <a:endParaRPr lang="en-US" sz="10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164592"/>
            <a:ext cx="9144000" cy="274320"/>
          </a:xfrm>
          <a:prstGeom prst="rect">
            <a:avLst/>
          </a:prstGeom>
          <a:noFill/>
          <a:ln/>
        </p:spPr>
        <p:txBody>
          <a:bodyPr wrap="square" rtlCol="0" anchor="ctr"/>
          <a:lstStyle/>
          <a:p>
            <a:pPr indent="0" marL="0">
              <a:buNone/>
            </a:pPr>
            <a:r>
              <a:rPr lang="en-US" sz="1200" b="1" spc="200" kern="0" dirty="0">
                <a:solidFill>
                  <a:srgbClr val="F9A826"/>
                </a:solidFill>
                <a:latin typeface="Calibri" pitchFamily="34" charset="0"/>
                <a:ea typeface="Calibri" pitchFamily="34" charset="-122"/>
                <a:cs typeface="Calibri" pitchFamily="34" charset="-120"/>
              </a:rPr>
              <a:t>KEY TAKEAWAYS</a:t>
            </a:r>
            <a:endParaRPr lang="en-US" sz="1200" dirty="0"/>
          </a:p>
        </p:txBody>
      </p:sp>
      <p:sp>
        <p:nvSpPr>
          <p:cNvPr id="3" name="Text 1"/>
          <p:cNvSpPr/>
          <p:nvPr/>
        </p:nvSpPr>
        <p:spPr>
          <a:xfrm>
            <a:off x="548640" y="411480"/>
            <a:ext cx="11064240" cy="822960"/>
          </a:xfrm>
          <a:prstGeom prst="rect">
            <a:avLst/>
          </a:prstGeom>
          <a:noFill/>
          <a:ln/>
        </p:spPr>
        <p:txBody>
          <a:bodyPr wrap="square" rtlCol="0" anchor="ctr"/>
          <a:lstStyle/>
          <a:p>
            <a:pPr algn="l" indent="0" marL="0">
              <a:buNone/>
            </a:pPr>
            <a:r>
              <a:rPr lang="en-US" sz="3200" b="1" dirty="0">
                <a:solidFill>
                  <a:srgbClr val="1E2761"/>
                </a:solidFill>
                <a:latin typeface="Cambria" pitchFamily="34" charset="0"/>
                <a:ea typeface="Cambria" pitchFamily="34" charset="-122"/>
                <a:cs typeface="Cambria" pitchFamily="34" charset="-120"/>
              </a:rPr>
              <a:t>What to Remember From Today</a:t>
            </a:r>
            <a:endParaRPr lang="en-US" sz="3200" dirty="0"/>
          </a:p>
        </p:txBody>
      </p:sp>
      <p:sp>
        <p:nvSpPr>
          <p:cNvPr id="4" name="Shape 2"/>
          <p:cNvSpPr/>
          <p:nvPr/>
        </p:nvSpPr>
        <p:spPr>
          <a:xfrm>
            <a:off x="548640" y="1737360"/>
            <a:ext cx="109728" cy="777240"/>
          </a:xfrm>
          <a:prstGeom prst="rect">
            <a:avLst/>
          </a:prstGeom>
          <a:solidFill>
            <a:srgbClr val="F9A826"/>
          </a:solidFill>
          <a:ln/>
        </p:spPr>
      </p:sp>
      <p:sp>
        <p:nvSpPr>
          <p:cNvPr id="5" name="Text 3"/>
          <p:cNvSpPr/>
          <p:nvPr/>
        </p:nvSpPr>
        <p:spPr>
          <a:xfrm>
            <a:off x="914400" y="1691640"/>
            <a:ext cx="10515600" cy="914400"/>
          </a:xfrm>
          <a:prstGeom prst="rect">
            <a:avLst/>
          </a:prstGeom>
          <a:noFill/>
          <a:ln/>
        </p:spPr>
        <p:txBody>
          <a:bodyPr wrap="square"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Every strong prompt includes Context, Task, Format, Tone, and Constraints</a:t>
            </a:r>
            <a:endParaRPr lang="en-US" sz="1800" dirty="0"/>
          </a:p>
        </p:txBody>
      </p:sp>
      <p:sp>
        <p:nvSpPr>
          <p:cNvPr id="6" name="Shape 4"/>
          <p:cNvSpPr/>
          <p:nvPr/>
        </p:nvSpPr>
        <p:spPr>
          <a:xfrm>
            <a:off x="548640" y="2788920"/>
            <a:ext cx="109728" cy="777240"/>
          </a:xfrm>
          <a:prstGeom prst="rect">
            <a:avLst/>
          </a:prstGeom>
          <a:solidFill>
            <a:srgbClr val="F9A826"/>
          </a:solidFill>
          <a:ln/>
        </p:spPr>
      </p:sp>
      <p:sp>
        <p:nvSpPr>
          <p:cNvPr id="7" name="Text 5"/>
          <p:cNvSpPr/>
          <p:nvPr/>
        </p:nvSpPr>
        <p:spPr>
          <a:xfrm>
            <a:off x="914400" y="2743200"/>
            <a:ext cx="10515600" cy="914400"/>
          </a:xfrm>
          <a:prstGeom prst="rect">
            <a:avLst/>
          </a:prstGeom>
          <a:noFill/>
          <a:ln/>
        </p:spPr>
        <p:txBody>
          <a:bodyPr wrap="square"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Missing even one element usually means editing the output yourself</a:t>
            </a:r>
            <a:endParaRPr lang="en-US" sz="1800" dirty="0"/>
          </a:p>
        </p:txBody>
      </p:sp>
      <p:sp>
        <p:nvSpPr>
          <p:cNvPr id="8" name="Shape 6"/>
          <p:cNvSpPr/>
          <p:nvPr/>
        </p:nvSpPr>
        <p:spPr>
          <a:xfrm>
            <a:off x="548640" y="3840480"/>
            <a:ext cx="109728" cy="777240"/>
          </a:xfrm>
          <a:prstGeom prst="rect">
            <a:avLst/>
          </a:prstGeom>
          <a:solidFill>
            <a:srgbClr val="F9A826"/>
          </a:solidFill>
          <a:ln/>
        </p:spPr>
      </p:sp>
      <p:sp>
        <p:nvSpPr>
          <p:cNvPr id="9" name="Text 7"/>
          <p:cNvSpPr/>
          <p:nvPr/>
        </p:nvSpPr>
        <p:spPr>
          <a:xfrm>
            <a:off x="914400" y="3794760"/>
            <a:ext cx="10515600" cy="914400"/>
          </a:xfrm>
          <a:prstGeom prst="rect">
            <a:avLst/>
          </a:prstGeom>
          <a:noFill/>
          <a:ln/>
        </p:spPr>
        <p:txBody>
          <a:bodyPr wrap="square" rtlCol="0" anchor="ctr"/>
          <a:lstStyle/>
          <a:p>
            <a:pPr indent="0" marL="0">
              <a:buNone/>
            </a:pPr>
            <a:r>
              <a:rPr lang="en-US" sz="1800" i="1" dirty="0">
                <a:solidFill>
                  <a:srgbClr val="1E2761"/>
                </a:solidFill>
                <a:latin typeface="Cambria" pitchFamily="34" charset="0"/>
                <a:ea typeface="Cambria" pitchFamily="34" charset="-122"/>
                <a:cs typeface="Cambria" pitchFamily="34" charset="-120"/>
              </a:rPr>
              <a:t>Structure turns AI from a guessing game into a reliable tool</a:t>
            </a:r>
            <a:endParaRPr lang="en-US" sz="1800" dirty="0"/>
          </a:p>
        </p:txBody>
      </p:sp>
      <p:sp>
        <p:nvSpPr>
          <p:cNvPr id="10" name="Text 8"/>
          <p:cNvSpPr/>
          <p:nvPr/>
        </p:nvSpPr>
        <p:spPr>
          <a:xfrm>
            <a:off x="548640" y="5212080"/>
            <a:ext cx="10698480" cy="548640"/>
          </a:xfrm>
          <a:prstGeom prst="rect">
            <a:avLst/>
          </a:prstGeom>
          <a:noFill/>
          <a:ln/>
        </p:spPr>
        <p:txBody>
          <a:bodyPr wrap="square" rtlCol="0" anchor="ctr"/>
          <a:lstStyle/>
          <a:p>
            <a:pPr indent="0" marL="0">
              <a:buNone/>
            </a:pPr>
            <a:r>
              <a:rPr lang="en-US" sz="1400" i="1" dirty="0">
                <a:solidFill>
                  <a:srgbClr val="6B7280"/>
                </a:solidFill>
                <a:latin typeface="Calibri" pitchFamily="34" charset="0"/>
                <a:ea typeface="Calibri" pitchFamily="34" charset="-122"/>
                <a:cs typeface="Calibri" pitchFamily="34" charset="-120"/>
              </a:rPr>
              <a:t>Next class: Context &amp; Role-Based Prompting — turning AI into a specific expert for your task.</a:t>
            </a:r>
            <a:endParaRPr lang="en-US" sz="1400" dirty="0"/>
          </a:p>
        </p:txBody>
      </p:sp>
      <p:sp>
        <p:nvSpPr>
          <p:cNvPr id="11" name="Text 9"/>
          <p:cNvSpPr/>
          <p:nvPr/>
        </p:nvSpPr>
        <p:spPr>
          <a:xfrm>
            <a:off x="457200" y="6537960"/>
            <a:ext cx="5486400" cy="274320"/>
          </a:xfrm>
          <a:prstGeom prst="rect">
            <a:avLst/>
          </a:prstGeom>
          <a:noFill/>
          <a:ln/>
        </p:spPr>
        <p:txBody>
          <a:bodyPr wrap="square" rtlCol="0" anchor="ctr"/>
          <a:lstStyle/>
          <a:p>
            <a:pPr indent="0" marL="0">
              <a:buNone/>
            </a:pPr>
            <a:r>
              <a:rPr lang="en-US" sz="1000" dirty="0">
                <a:solidFill>
                  <a:srgbClr val="6B7280"/>
                </a:solidFill>
                <a:latin typeface="Calibri" pitchFamily="34" charset="0"/>
                <a:ea typeface="Calibri" pitchFamily="34" charset="-122"/>
                <a:cs typeface="Calibri" pitchFamily="34" charset="-120"/>
              </a:rPr>
              <a:t>Prompt Engineering — Day 1</a:t>
            </a:r>
            <a:endParaRPr lang="en-US" sz="1000" dirty="0"/>
          </a:p>
        </p:txBody>
      </p:sp>
      <p:sp>
        <p:nvSpPr>
          <p:cNvPr id="12" name="Text 10"/>
          <p:cNvSpPr/>
          <p:nvPr/>
        </p:nvSpPr>
        <p:spPr>
          <a:xfrm>
            <a:off x="11521440" y="6537960"/>
            <a:ext cx="457200" cy="274320"/>
          </a:xfrm>
          <a:prstGeom prst="rect">
            <a:avLst/>
          </a:prstGeom>
          <a:noFill/>
          <a:ln/>
        </p:spPr>
        <p:txBody>
          <a:bodyPr wrap="square" rtlCol="0" anchor="ctr"/>
          <a:lstStyle/>
          <a:p>
            <a:pPr algn="r" indent="0" marL="0">
              <a:buNone/>
            </a:pPr>
            <a:r>
              <a:rPr lang="en-US" sz="1000" dirty="0">
                <a:solidFill>
                  <a:srgbClr val="6B7280"/>
                </a:solidFill>
                <a:latin typeface="Calibri" pitchFamily="34" charset="0"/>
                <a:ea typeface="Calibri" pitchFamily="34" charset="-122"/>
                <a:cs typeface="Calibri" pitchFamily="34" charset="-120"/>
              </a:rPr>
              <a:t>30</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30</Slides>
  <Notes>30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30</vt:i4>
      </vt:variant>
    </vt:vector>
  </HeadingPairs>
  <TitlesOfParts>
    <vt:vector size="3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2026-08-24T10:49:40Z</dcterms:created>
  <dcterms:modified xsi:type="dcterms:W3CDTF">2026-08-24T10:49:40Z</dcterms:modified>
</cp:coreProperties>
</file>